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KaziOS is an operating system for African businesses — sales, stock, customers, books and payments in one connected system. I'm Mathew Kioko, founder and developer.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SMEs stitch together separate apps for each job. None of them talk to each other, so every sale creates reconciliation work and the numbers never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wedge: global ERPs assume card payments, one HQ and always-on internet. KaziOS starts from African market realities.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architectural idea, straight from the README: one sale fans out to six systems. No re-keying, no drift, no reconciliation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row only — juries skim. Point out that selling, stock, customers, purchasing, invoicing and payments are one data model, not eight apps glued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rails, one engine. The M-PESA side is the story: Daraja STK Push, server-side re-query as the only source of truth, idempotency and amount checks — payments engineering, not a button. The screenshot is the live billing portal with the Card/M-PESA rail toggle. Full trust list also covers: free plan and paid plans, monthly or annual, run on one engine; the billing portal issues invoices, receipts and plan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invented pricing numbers — the plan table is server-configurable per market. The point: free tier for adoption, paid tiers for capacity, local rails for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Kenya-first is deliberate: M-PESA rails, KRA eTIMS compliance path, English/Swahili market. Personas show we design for the people who touch the product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 builds trust with a jury: the foundation and both payment rails are live and tested; the deep workflows are sequenced next. No vaporware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engineering maturity: monorepo with shared packages, strict typing end-to-end, automated tests and gates, and payment-grade security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the README checklist made visible: everything checked is live, everything unchecked is sequenced. Judges can verify by opening the public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argument: local-first product decisions, a connected data model, verifiable engineering, and a founder who ships. Then move to the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jury, then invite a live demo — the POS flow and the M-PESA checkout both work end-to-end in the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ZBOOK/AppData/Local/Temp/kazi-deck/assets/log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1691640"/>
            <a:ext cx="7315200" cy="2816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7548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operating system for African businesses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5641848" y="532180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548640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· Mathew Kioko · mathewtech200@gmail.com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" y="5833872"/>
            <a:ext cx="9994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github.com/MathewTech254/KaziOs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ACODev COMPETITION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tools, ten versions of the truth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70632" y="1481328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70632" y="1481328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38344" y="1481328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38344" y="1481328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06056" y="1481328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06056" y="1481328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73768" y="1481328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573768" y="1481328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70632" y="228600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770632" y="2286000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38344" y="228600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038344" y="2286000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06056" y="228600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06056" y="2286000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73768" y="228600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573768" y="2286000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10128"/>
            <a:ext cx="5486400" cy="1353312"/>
          </a:xfrm>
          <a:prstGeom prst="roundRect">
            <a:avLst>
              <a:gd name="adj" fmla="val 6081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511296"/>
            <a:ext cx="64008" cy="950976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drifts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877056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 updates the till, not the shelf.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3310128"/>
            <a:ext cx="5486400" cy="1353312"/>
          </a:xfrm>
          <a:prstGeom prst="roundRect">
            <a:avLst>
              <a:gd name="adj" fmla="val 6081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511296"/>
            <a:ext cx="64008" cy="950976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entry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3952" y="3877056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sale gets re-typed into three systems.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846320"/>
            <a:ext cx="5486400" cy="1353312"/>
          </a:xfrm>
          <a:prstGeom prst="roundRect">
            <a:avLst>
              <a:gd name="adj" fmla="val 6081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047488"/>
            <a:ext cx="64008" cy="950976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balances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" y="541324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owes what lives in a notebook at the counter.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99632" y="4846320"/>
            <a:ext cx="5486400" cy="1353312"/>
          </a:xfrm>
          <a:prstGeom prst="roundRect">
            <a:avLst>
              <a:gd name="adj" fmla="val 6081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5047488"/>
            <a:ext cx="64008" cy="950976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39" name="Text 37"/>
          <p:cNvSpPr/>
          <p:nvPr/>
        </p:nvSpPr>
        <p:spPr>
          <a:xfrm>
            <a:off x="6473952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decisions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3952" y="541324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arrive after the decision was due.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SOFTWARE FAILS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different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17904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92224"/>
            <a:ext cx="73152" cy="1572768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922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first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226771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is how most customers actually pay. Global tools treat it as an afterthought — or ignore it entirely.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517904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792224"/>
            <a:ext cx="73152" cy="157276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922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by default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26771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grow into branches, warehouses and agents. The software must model that shape from day 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133088"/>
            <a:ext cx="73152" cy="1572768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41330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comes and goes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" y="4608576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must keep flowing on unreliable networks — offline tolerance cannot be a future luxury.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3858768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4133088"/>
            <a:ext cx="73152" cy="1572768"/>
          </a:xfrm>
          <a:prstGeom prst="rect">
            <a:avLst/>
          </a:prstGeom>
          <a:solidFill>
            <a:srgbClr val="12A0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330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that fits the market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4608576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Foreign-currency enterprise pricing does not scale with an African SME. Plans must grow with the business.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— everything connected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sale happens, payment, stock, customer history, books and reporting update together —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V="1">
            <a:off x="2743200" y="2121408"/>
            <a:ext cx="3749040" cy="1353312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43200" y="2907792"/>
            <a:ext cx="3749040" cy="566928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3474720"/>
            <a:ext cx="3749040" cy="219456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474720"/>
            <a:ext cx="3749040" cy="1005840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3474720"/>
            <a:ext cx="3749040" cy="1792224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3474720"/>
            <a:ext cx="3749040" cy="2578608"/>
          </a:xfrm>
          <a:prstGeom prst="line">
            <a:avLst/>
          </a:prstGeom>
          <a:noFill/>
          <a:ln w="19050">
            <a:solidFill>
              <a:srgbClr val="2A4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0175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5A31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17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92240" y="1810512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3408" y="2039112"/>
            <a:ext cx="164592" cy="164592"/>
          </a:xfrm>
          <a:prstGeom prst="ellipse">
            <a:avLst/>
          </a:prstGeom>
          <a:solidFill>
            <a:srgbClr val="F5A314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810512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92240" y="2596896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3408" y="2825496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596896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3383280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3611880"/>
            <a:ext cx="164592" cy="164592"/>
          </a:xfrm>
          <a:prstGeom prst="ellipse">
            <a:avLst/>
          </a:prstGeom>
          <a:solidFill>
            <a:srgbClr val="E8621E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383280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92240" y="4169664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4398264"/>
            <a:ext cx="164592" cy="164592"/>
          </a:xfrm>
          <a:prstGeom prst="ellipse">
            <a:avLst/>
          </a:prstGeom>
          <a:solidFill>
            <a:srgbClr val="12A05F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4169664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92240" y="4956048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3408" y="5184648"/>
            <a:ext cx="164592" cy="16459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956048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92240" y="5742432"/>
            <a:ext cx="5138928" cy="621792"/>
          </a:xfrm>
          <a:prstGeom prst="roundRect">
            <a:avLst>
              <a:gd name="adj" fmla="val 132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5971032"/>
            <a:ext cx="164592" cy="164592"/>
          </a:xfrm>
          <a:prstGeom prst="ellipse">
            <a:avLst/>
          </a:prstGeom>
          <a:solidFill>
            <a:srgbClr val="F5A314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5742432"/>
            <a:ext cx="4498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business transaction should not exist in isolation.”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5212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KaziOS design principle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business runs on, in one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are live today — the deeper workflows are in active build.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669280" cy="3577590"/>
          </a:xfrm>
          <a:prstGeom prst="roundRect">
            <a:avLst>
              <a:gd name="adj" fmla="val 2300"/>
            </a:avLst>
          </a:prstGeom>
          <a:solidFill>
            <a:srgbClr val="102542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7" name="Image 0" descr="C:/Users/ZBOOK/AppData/Local/Temp/kazi-deck/assets/shot-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577840" cy="3486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24179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 — branch, warehouse and category filters in one screen.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645920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1792224"/>
            <a:ext cx="384048" cy="50292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11" name="Text 8"/>
          <p:cNvSpPr/>
          <p:nvPr/>
        </p:nvSpPr>
        <p:spPr>
          <a:xfrm>
            <a:off x="6565392" y="18836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65392" y="2130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cart, discounts, tax, receipts and cashier workflows.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07424" y="1645920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72016" y="1792224"/>
            <a:ext cx="384048" cy="50292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9272016" y="18836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Inventory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72016" y="2130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SKUs, barcodes, categories, warehouses and stock movements.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0" y="2660904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65392" y="2807208"/>
            <a:ext cx="384048" cy="50292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19" name="Text 16"/>
          <p:cNvSpPr/>
          <p:nvPr/>
        </p:nvSpPr>
        <p:spPr>
          <a:xfrm>
            <a:off x="6565392" y="28986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65392" y="31455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history, outstanding balances and returns.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07424" y="2660904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72016" y="2807208"/>
            <a:ext cx="384048" cy="50292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9272016" y="28986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Invoicing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72016" y="31455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line items, partial payments and statuses.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0" y="3675888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65392" y="3822192"/>
            <a:ext cx="384048" cy="50292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27" name="Text 24"/>
          <p:cNvSpPr/>
          <p:nvPr/>
        </p:nvSpPr>
        <p:spPr>
          <a:xfrm>
            <a:off x="6565392" y="391363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65392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→ purchase order → receiving → stock → balance.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107424" y="3675888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72016" y="3822192"/>
            <a:ext cx="384048" cy="50292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9272016" y="391363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272016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(Paystack) and M-PESA rails, refunds and tracking.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0" y="4690872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5392" y="4837176"/>
            <a:ext cx="384048" cy="50292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35" name="Text 32"/>
          <p:cNvSpPr/>
          <p:nvPr/>
        </p:nvSpPr>
        <p:spPr>
          <a:xfrm>
            <a:off x="6565392" y="49286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65392" y="51755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stock, customer and financial reports.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107424" y="4690872"/>
            <a:ext cx="2523744" cy="873252"/>
          </a:xfrm>
          <a:prstGeom prst="roundRect">
            <a:avLst>
              <a:gd name="adj" fmla="val 942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72016" y="4837176"/>
            <a:ext cx="384048" cy="50292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9272016" y="49286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72016" y="51755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grounded in your own numbers.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" y="5852160"/>
            <a:ext cx="11128248" cy="457200"/>
          </a:xfrm>
          <a:prstGeom prst="roundRect">
            <a:avLst>
              <a:gd name="adj" fmla="val 20000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" y="5852160"/>
            <a:ext cx="11128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 ·  Warehouses  ·  Roles &amp; permissions  ·  Audit logging  ·  Notifications  ·  Settings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that works the way Africa pays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73152" cy="1371600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007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— cards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2139696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checkout with webhook-verified confirmation and idempotent activation — a payment can never be granted twice.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776472"/>
            <a:ext cx="73152" cy="1828800"/>
          </a:xfrm>
          <a:prstGeom prst="rect">
            <a:avLst/>
          </a:prstGeom>
          <a:solidFill>
            <a:srgbClr val="12A05F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373989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— Safaricom Daraja STK Push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417880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approves on their own phone with their PIN. The server then re-queries Safaricom to verify — the callback can only trigger a check, never grant access.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435608"/>
            <a:ext cx="5550408" cy="2422838"/>
          </a:xfrm>
          <a:prstGeom prst="roundRect">
            <a:avLst>
              <a:gd name="adj" fmla="val 3397"/>
            </a:avLst>
          </a:prstGeom>
          <a:solidFill>
            <a:srgbClr val="102542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14" name="Image 0" descr="C:/Users/ZBOOK/AppData/Local/Temp/kazi-deck/assets/shot-billing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81328"/>
            <a:ext cx="5458968" cy="233139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72200" y="3949886"/>
            <a:ext cx="5458968" cy="1902274"/>
          </a:xfrm>
          <a:prstGeom prst="roundRect">
            <a:avLst>
              <a:gd name="adj" fmla="val 4326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096190"/>
            <a:ext cx="4910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trustworthy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4461950"/>
            <a:ext cx="4910328" cy="1280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checked against the plan price — every 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activation: one payment, one grant, ever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webhook can only trigger a verification query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aware: undecided payments poll politely, then retry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6016752"/>
            <a:ext cx="11128248" cy="402336"/>
          </a:xfrm>
          <a:prstGeom prst="roundRect">
            <a:avLst>
              <a:gd name="adj" fmla="val 20455"/>
            </a:avLst>
          </a:prstGeom>
          <a:solidFill>
            <a:srgbClr val="102542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16752"/>
            <a:ext cx="11128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rails share one subscription engine — same plans, same limits, same billing portal.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 — paid where Africa pays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17904"/>
            <a:ext cx="3611880" cy="2395728"/>
          </a:xfrm>
          <a:prstGeom prst="roundRect">
            <a:avLst>
              <a:gd name="adj" fmla="val 34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922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304288"/>
            <a:ext cx="548640" cy="54864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468880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with core features and sensible limits. The door stays wide open.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371600"/>
            <a:ext cx="3611880" cy="2688336"/>
          </a:xfrm>
          <a:prstGeom prst="roundRect">
            <a:avLst>
              <a:gd name="adj" fmla="val 3061"/>
            </a:avLst>
          </a:prstGeom>
          <a:solidFill>
            <a:srgbClr val="F5A314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plans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53712" y="2157984"/>
            <a:ext cx="548640" cy="54864"/>
          </a:xfrm>
          <a:prstGeom prst="rect">
            <a:avLst/>
          </a:prstGeom>
          <a:solidFill>
            <a:srgbClr val="081B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322576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capacity and features. Monthly or annual billing, cancelled any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5864" y="1517904"/>
            <a:ext cx="3611880" cy="2395728"/>
          </a:xfrm>
          <a:prstGeom prst="roundRect">
            <a:avLst>
              <a:gd name="adj" fmla="val 3435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7922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330184" y="2304288"/>
            <a:ext cx="548640" cy="54864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468880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as a business adds branches and teams, its tier grows with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11128248" cy="1737360"/>
          </a:xfrm>
          <a:prstGeom prst="roundRect">
            <a:avLst>
              <a:gd name="adj" fmla="val 4737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5171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works here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4901184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 (M-PESA) lift conversion where cards are rare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are enforced server-side — limits stay honest, clients cannot spoof them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rewards commitment and smooths cash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first — built for African markets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KaziOS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6309360" cy="914400"/>
          </a:xfrm>
          <a:prstGeom prst="roundRect">
            <a:avLst>
              <a:gd name="adj" fmla="val 9000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157984"/>
            <a:ext cx="347472" cy="347472"/>
          </a:xfrm>
          <a:prstGeom prst="ellipse">
            <a:avLst/>
          </a:prstGeom>
          <a:solidFill>
            <a:srgbClr val="F5A314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00253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visibility across every branch, in real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6309360" cy="914400"/>
          </a:xfrm>
          <a:prstGeom prst="roundRect">
            <a:avLst>
              <a:gd name="adj" fmla="val 9000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91256"/>
            <a:ext cx="347472" cy="347472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0358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cashier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80160" y="33649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checkout: few clicks, receipts, less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41064"/>
            <a:ext cx="6309360" cy="914400"/>
          </a:xfrm>
          <a:prstGeom prst="roundRect">
            <a:avLst>
              <a:gd name="adj" fmla="val 9000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224528"/>
            <a:ext cx="347472" cy="347472"/>
          </a:xfrm>
          <a:prstGeom prst="ellipse">
            <a:avLst/>
          </a:prstGeom>
          <a:solidFill>
            <a:srgbClr val="E8621E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0690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manager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80160" y="43982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truth — what moved, what is low, what was ordered.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974336"/>
            <a:ext cx="6309360" cy="914400"/>
          </a:xfrm>
          <a:prstGeom prst="roundRect">
            <a:avLst>
              <a:gd name="adj" fmla="val 9000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5257800"/>
            <a:ext cx="347472" cy="347472"/>
          </a:xfrm>
          <a:prstGeom prst="ellipse">
            <a:avLst/>
          </a:prstGeom>
          <a:solidFill>
            <a:srgbClr val="12A05F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1023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54315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books: invoices, payments and customer balances.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1417320"/>
            <a:ext cx="4590288" cy="4471416"/>
          </a:xfrm>
          <a:prstGeom prst="roundRect">
            <a:avLst>
              <a:gd name="adj" fmla="val 1840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2066544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retailers &amp; wholesalers in Kenya — shops, hardware, groceries, pharmacies, distributors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businesses that outgrew spreadsheets and single-purpose apps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 across Africa as payment rails and tax integrations land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3977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4379976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are becoming the default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authorities are digitising invoicing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demand one source of truth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 public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35024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C3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350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passing tests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335024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B1C39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33502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+ lint gates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335024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B1C39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33502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06840" y="1335024"/>
            <a:ext cx="2624328" cy="310896"/>
          </a:xfrm>
          <a:prstGeom prst="roundRect">
            <a:avLst>
              <a:gd name="adj" fmla="val 50000"/>
            </a:avLst>
          </a:prstGeom>
          <a:solidFill>
            <a:srgbClr val="0B1C39"/>
          </a:solidFill>
          <a:ln/>
        </p:spPr>
      </p:sp>
      <p:sp>
        <p:nvSpPr>
          <p:cNvPr id="12" name="Text 10"/>
          <p:cNvSpPr/>
          <p:nvPr/>
        </p:nvSpPr>
        <p:spPr>
          <a:xfrm>
            <a:off x="9006840" y="1335024"/>
            <a:ext cx="2624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3611880" cy="3520440"/>
          </a:xfrm>
          <a:prstGeom prst="roundRect">
            <a:avLst>
              <a:gd name="adj" fmla="val 2338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206654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A05F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066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2523744"/>
            <a:ext cx="309981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organizations, roles &amp; audit logging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customers, invoices, payments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warehouses, settings, notifications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foundation and reporting foundation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plans, free tier, feature entitlements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+ M-PESA payment rails, billing portal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architecture, subscriptions, M-PESA walkthrough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828800"/>
            <a:ext cx="3611880" cy="3520440"/>
          </a:xfrm>
          <a:prstGeom prst="roundRect">
            <a:avLst>
              <a:gd name="adj" fmla="val 2338"/>
            </a:avLst>
          </a:prstGeom>
          <a:solidFill>
            <a:srgbClr val="0B1C39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9432" y="206654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BUILD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99432" y="2523744"/>
            <a:ext cx="309981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cashier workflow &amp; barcode scanning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refunds, split payments, cashier shifts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ledger, transfers &amp; stocktaking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lifecycle &amp; supplier balances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core (GL, receivables/payables, P&amp;L)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copilot across every module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POS · KRA eTIMS · WhatsApp &amp; SMS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783080"/>
            <a:ext cx="3538728" cy="2245995"/>
          </a:xfrm>
          <a:prstGeom prst="roundRect">
            <a:avLst>
              <a:gd name="adj" fmla="val 3664"/>
            </a:avLst>
          </a:prstGeom>
          <a:solidFill>
            <a:srgbClr val="102542"/>
          </a:solidFill>
          <a:ln w="12700">
            <a:solidFill>
              <a:srgbClr val="1E3A63"/>
            </a:solidFill>
            <a:prstDash val="solid"/>
          </a:ln>
        </p:spPr>
      </p:sp>
      <p:pic>
        <p:nvPicPr>
          <p:cNvPr id="22" name="Image 0" descr="C:/Users/ZBOOK/AppData/Local/Temp/kazi-deck/assets/sho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828800"/>
            <a:ext cx="3447288" cy="2154555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183880" y="4120515"/>
            <a:ext cx="3447288" cy="1228725"/>
          </a:xfrm>
          <a:prstGeom prst="roundRect">
            <a:avLst>
              <a:gd name="adj" fmla="val 6698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03336" y="4266819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today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403336" y="4614291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 — real organisation data: KES 1.17M revenue this month, 151 sales, low-stock alerts and top products.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typed, tested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602736" cy="3794760"/>
          </a:xfrm>
          <a:prstGeom prst="roundRect">
            <a:avLst>
              <a:gd name="adj" fmla="val 228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737360"/>
            <a:ext cx="502920" cy="73152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8366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" y="2340864"/>
            <a:ext cx="312724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+ Tailwind CSS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Router &amp; Query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· Recharts charts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Testing Library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481328"/>
            <a:ext cx="3602736" cy="3794760"/>
          </a:xfrm>
          <a:prstGeom prst="roundRect">
            <a:avLst>
              <a:gd name="adj" fmla="val 228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37360"/>
            <a:ext cx="502920" cy="73152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8366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340864"/>
            <a:ext cx="312724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request validation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 + argon2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Helmet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background jobs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74152" y="1481328"/>
            <a:ext cx="3602736" cy="3794760"/>
          </a:xfrm>
          <a:prstGeom prst="roundRect">
            <a:avLst>
              <a:gd name="adj" fmla="val 2284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1896" y="1737360"/>
            <a:ext cx="502920" cy="73152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1883664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1896" y="2340864"/>
            <a:ext cx="312724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migrations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sessions &amp; cache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Monorepo: 6 shared packages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(Render)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11128248" cy="841248"/>
          </a:xfrm>
          <a:prstGeom prst="roundRect">
            <a:avLst>
              <a:gd name="adj" fmla="val 9783"/>
            </a:avLst>
          </a:prstGeom>
          <a:solidFill>
            <a:srgbClr val="10254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86400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gates: </a:t>
            </a:r>
            <a:pPr algn="ctr" indent="0" marL="0">
              <a:buNone/>
            </a:pPr>
            <a:r>
              <a:rPr lang="en-US" sz="13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· lint · 190+ unit tests · integration suite      </a:t>
            </a:r>
            <a:pPr algn="ctr" indent="0" marL="0">
              <a:buNone/>
            </a:pPr>
            <a:r>
              <a:rPr lang="en-US" sz="13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pPr algn="ctr" indent="0" marL="0">
              <a:buNone/>
            </a:pPr>
            <a:r>
              <a:rPr lang="en-US" sz="13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audit trail · hashed secrets · HTTPS-only callbacks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Next → Later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3474720" cy="640080"/>
          </a:xfrm>
          <a:prstGeom prst="roundRect">
            <a:avLst>
              <a:gd name="adj" fmla="val 12857"/>
            </a:avLst>
          </a:prstGeom>
          <a:solidFill>
            <a:srgbClr val="12A0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" y="228600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2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2706624"/>
            <a:ext cx="303580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&amp; multi-branch ops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+ M-PESA payment rails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paid subscription tiers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test suite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95928" y="3291840"/>
            <a:ext cx="338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52544" y="1481328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481328"/>
            <a:ext cx="3474720" cy="640080"/>
          </a:xfrm>
          <a:prstGeom prst="roundRect">
            <a:avLst>
              <a:gd name="adj" fmla="val 12857"/>
            </a:avLst>
          </a:prstGeom>
          <a:solidFill>
            <a:srgbClr val="F5A314"/>
          </a:solidFill>
          <a:ln/>
        </p:spPr>
      </p:sp>
      <p:sp>
        <p:nvSpPr>
          <p:cNvPr id="13" name="Text 11"/>
          <p:cNvSpPr/>
          <p:nvPr/>
        </p:nvSpPr>
        <p:spPr>
          <a:xfrm>
            <a:off x="4352544" y="14813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workflows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706624"/>
            <a:ext cx="303580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cashier workflow &amp; shifts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ledger, transfers, stocktaking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lifecycle &amp; suppliers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core (GL, AR/AP, P&amp;L)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45552" y="3291840"/>
            <a:ext cx="338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02168" y="1481328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02168" y="1481328"/>
            <a:ext cx="3474720" cy="640080"/>
          </a:xfrm>
          <a:prstGeom prst="roundRect">
            <a:avLst>
              <a:gd name="adj" fmla="val 12857"/>
            </a:avLst>
          </a:prstGeom>
          <a:solidFill>
            <a:srgbClr val="0E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02168" y="14813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8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21624" y="228600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21624" y="2706624"/>
            <a:ext cx="303580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copilot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POS for intermittent networks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 eTIMS compliance integration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&amp; pan-African expansion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KAZIOS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design — serious under the hood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772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17904"/>
            <a:ext cx="5486400" cy="1975104"/>
          </a:xfrm>
          <a:prstGeom prst="roundRect">
            <a:avLst>
              <a:gd name="adj" fmla="val 4167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73936"/>
            <a:ext cx="73152" cy="1463040"/>
          </a:xfrm>
          <a:prstGeom prst="rect">
            <a:avLst/>
          </a:prstGeom>
          <a:solidFill>
            <a:srgbClr val="F5A314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5564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here, not adapted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5528" y="2212848"/>
            <a:ext cx="49377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money, multi-branch reality and Kenyan compliance are the default path — not future tickets on a foreign roadmap.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517904"/>
            <a:ext cx="5486400" cy="1975104"/>
          </a:xfrm>
          <a:prstGeom prst="roundRect">
            <a:avLst>
              <a:gd name="adj" fmla="val 4167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773936"/>
            <a:ext cx="73152" cy="1463040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5564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 model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49377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sale updates six systems. No reconciliation tax, no drift between the till, the shelf and the books.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694176"/>
            <a:ext cx="5486400" cy="1975104"/>
          </a:xfrm>
          <a:prstGeom prst="roundRect">
            <a:avLst>
              <a:gd name="adj" fmla="val 4167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50208"/>
            <a:ext cx="73152" cy="1463040"/>
          </a:xfrm>
          <a:prstGeom prst="rect">
            <a:avLst/>
          </a:prstGeom>
          <a:solidFill>
            <a:srgbClr val="E8621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319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you can audit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95528" y="4389120"/>
            <a:ext cx="49377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repo, typed codebase, 190+ tests, and written docs for every payment rail — including the M-PESA walkthrough.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3694176"/>
            <a:ext cx="5486400" cy="1975104"/>
          </a:xfrm>
          <a:prstGeom prst="roundRect">
            <a:avLst>
              <a:gd name="adj" fmla="val 4167"/>
            </a:avLst>
          </a:prstGeom>
          <a:solidFill>
            <a:srgbClr val="0C1F40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3950208"/>
            <a:ext cx="73152" cy="1463040"/>
          </a:xfrm>
          <a:prstGeom prst="rect">
            <a:avLst/>
          </a:prstGeom>
          <a:solidFill>
            <a:srgbClr val="12A0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9319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on the ground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92240" y="4389120"/>
            <a:ext cx="49377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Kioko — building in Kenya, shipping in public, iterating toward what African businesses actually need.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11128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whole business on one system.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6519672"/>
            <a:ext cx="12188952" cy="13716"/>
          </a:xfrm>
          <a:prstGeom prst="rect">
            <a:avLst/>
          </a:prstGeom>
          <a:solidFill>
            <a:srgbClr val="1E3A6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537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· Business Operating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28832" y="6537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ZBOOK/AppData/Local/Temp/kazi-deck/assets/icon-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20240"/>
            <a:ext cx="2660904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21488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4892040" y="3108960"/>
            <a:ext cx="1005840" cy="64008"/>
          </a:xfrm>
          <a:prstGeom prst="roundRect">
            <a:avLst>
              <a:gd name="adj" fmla="val 50000"/>
            </a:avLst>
          </a:prstGeom>
          <a:solidFill>
            <a:srgbClr val="F5A314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331012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KaziOS — the AI-native operating system for African businesses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46320" y="41148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mathewtech200@gmail.com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5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github.com/MathewTech254/KaziOs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 welcome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KaziOS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KaziOS — Competition Presentation</dc:title>
  <dc:subject>The AI-native operating system for African businesses</dc:subject>
  <dc:creator>Mathew Kioko</dc:creator>
  <cp:lastModifiedBy>Mathew Kioko</cp:lastModifiedBy>
  <cp:revision>1</cp:revision>
  <dcterms:created xsi:type="dcterms:W3CDTF">2026-10-10T11:01:50Z</dcterms:created>
  <dcterms:modified xsi:type="dcterms:W3CDTF">2026-10-10T11:01:50Z</dcterms:modified>
</cp:coreProperties>
</file>