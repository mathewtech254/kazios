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one-liner: KaziOS is an operating system for African businesses — sales, stock, customers, books and payments in one connected system. I'm Mathew Kioko, founder and developer.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SMEs stitch together separate apps for each job. None of them talk to each other, so every sale creates reconciliation work and the numbers never agree.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wedge: global ERPs assume card payments, one HQ and always-on internet. KaziOS starts from African market realities.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core architectural idea, straight from the README: one sale fans out to six systems. No re-keying, no drift, no reconciliation tax.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one row only — juries skim. Point out that selling, stock, customers, purchasing, invoicing and payments are one data model, not eight apps glued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rails, one engine. The M-PESA side is the story: Daraja STK Push, server-side re-query as the only source of truth, idempotency and amount checks — payments engineering, not a button.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invented pricing numbers — the plan table is server-configurable per market. The point: free tier for adoption, paid tiers for capacity, local rails for conversion.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Kenya-first is deliberate: M-PESA rails, KRA eTIMS compliance path, English/Swahili market. Personas show we design for the people who touch the product daily.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status builds trust with a jury: the foundation and both payment rails are live and tested; the deep workflows are sequenced next. No vaporware claims.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 engineering maturity: monorepo with shared packages, strict typing end-to-end, automated tests and gates, and payment-grade security posture.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roadmap is the README checklist made visible: everything checked is live, everything unchecked is sequenced. Judges can verify by opening the public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argument: local-first product decisions, a connected data model, verifiable engineering, and a founder who ships. Then move to the thank-you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jury, then invite a live demo — the POS flow and the M-PESA checkout both work end-to-end in the sandbox.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ZBOOK/AppData/Local/Temp/kazi-deck/assets/logo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8248" y="1691640"/>
            <a:ext cx="7315200" cy="2816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4754880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AI-native operating system for African businesses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5641848" y="5321808"/>
            <a:ext cx="914400" cy="54864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Text 2"/>
          <p:cNvSpPr/>
          <p:nvPr/>
        </p:nvSpPr>
        <p:spPr>
          <a:xfrm>
            <a:off x="1097280" y="5486400"/>
            <a:ext cx="9994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presentation · Mathew Kioko · mathewtech200@gmail.com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097280" y="5833872"/>
            <a:ext cx="99943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github.com/MathewTech254/KaziOs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097280" y="640080"/>
            <a:ext cx="9994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ACODev COMPETITION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5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tools, ten versions of the truth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21208" y="1207008"/>
            <a:ext cx="777240" cy="64008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2084832" cy="603504"/>
          </a:xfrm>
          <a:prstGeom prst="roundRect">
            <a:avLst>
              <a:gd name="adj" fmla="val 12121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02920" y="1481328"/>
            <a:ext cx="2084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770632" y="1481328"/>
            <a:ext cx="2084832" cy="603504"/>
          </a:xfrm>
          <a:prstGeom prst="roundRect">
            <a:avLst>
              <a:gd name="adj" fmla="val 12121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2770632" y="1481328"/>
            <a:ext cx="2084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38344" y="1481328"/>
            <a:ext cx="2084832" cy="603504"/>
          </a:xfrm>
          <a:prstGeom prst="roundRect">
            <a:avLst>
              <a:gd name="adj" fmla="val 12121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038344" y="1481328"/>
            <a:ext cx="2084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06056" y="1481328"/>
            <a:ext cx="2084832" cy="603504"/>
          </a:xfrm>
          <a:prstGeom prst="roundRect">
            <a:avLst>
              <a:gd name="adj" fmla="val 12121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7306056" y="1481328"/>
            <a:ext cx="2084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Purchasing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573768" y="1481328"/>
            <a:ext cx="2084832" cy="603504"/>
          </a:xfrm>
          <a:prstGeom prst="roundRect">
            <a:avLst>
              <a:gd name="adj" fmla="val 12121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9573768" y="1481328"/>
            <a:ext cx="2084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Invoicing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2286000"/>
            <a:ext cx="2084832" cy="603504"/>
          </a:xfrm>
          <a:prstGeom prst="roundRect">
            <a:avLst>
              <a:gd name="adj" fmla="val 12121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502920" y="2286000"/>
            <a:ext cx="2084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770632" y="2286000"/>
            <a:ext cx="2084832" cy="603504"/>
          </a:xfrm>
          <a:prstGeom prst="roundRect">
            <a:avLst>
              <a:gd name="adj" fmla="val 12121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2770632" y="2286000"/>
            <a:ext cx="2084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38344" y="2286000"/>
            <a:ext cx="2084832" cy="603504"/>
          </a:xfrm>
          <a:prstGeom prst="roundRect">
            <a:avLst>
              <a:gd name="adj" fmla="val 12121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5038344" y="2286000"/>
            <a:ext cx="2084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306056" y="2286000"/>
            <a:ext cx="2084832" cy="603504"/>
          </a:xfrm>
          <a:prstGeom prst="roundRect">
            <a:avLst>
              <a:gd name="adj" fmla="val 12121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306056" y="2286000"/>
            <a:ext cx="2084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9573768" y="2286000"/>
            <a:ext cx="2084832" cy="603504"/>
          </a:xfrm>
          <a:prstGeom prst="roundRect">
            <a:avLst>
              <a:gd name="adj" fmla="val 12121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9573768" y="2286000"/>
            <a:ext cx="2084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3310128"/>
            <a:ext cx="5486400" cy="1353312"/>
          </a:xfrm>
          <a:prstGeom prst="roundRect">
            <a:avLst>
              <a:gd name="adj" fmla="val 6081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3511296"/>
            <a:ext cx="64008" cy="950976"/>
          </a:xfrm>
          <a:prstGeom prst="rect">
            <a:avLst/>
          </a:prstGeom>
          <a:solidFill>
            <a:srgbClr val="E8621E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349300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drifts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77240" y="3877056"/>
            <a:ext cx="50292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sale updates the till, not the shelf.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199632" y="3310128"/>
            <a:ext cx="5486400" cy="1353312"/>
          </a:xfrm>
          <a:prstGeom prst="roundRect">
            <a:avLst>
              <a:gd name="adj" fmla="val 6081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99632" y="3511296"/>
            <a:ext cx="64008" cy="950976"/>
          </a:xfrm>
          <a:prstGeom prst="rect">
            <a:avLst/>
          </a:prstGeom>
          <a:solidFill>
            <a:srgbClr val="E8621E"/>
          </a:solidFill>
          <a:ln/>
        </p:spPr>
      </p:sp>
      <p:sp>
        <p:nvSpPr>
          <p:cNvPr id="31" name="Text 29"/>
          <p:cNvSpPr/>
          <p:nvPr/>
        </p:nvSpPr>
        <p:spPr>
          <a:xfrm>
            <a:off x="6473952" y="349300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entry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473952" y="3877056"/>
            <a:ext cx="50292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sale gets re-typed into three systems.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846320"/>
            <a:ext cx="5486400" cy="1353312"/>
          </a:xfrm>
          <a:prstGeom prst="roundRect">
            <a:avLst>
              <a:gd name="adj" fmla="val 6081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047488"/>
            <a:ext cx="64008" cy="950976"/>
          </a:xfrm>
          <a:prstGeom prst="rect">
            <a:avLst/>
          </a:prstGeom>
          <a:solidFill>
            <a:srgbClr val="E8621E"/>
          </a:solidFill>
          <a:ln/>
        </p:spPr>
      </p:sp>
      <p:sp>
        <p:nvSpPr>
          <p:cNvPr id="35" name="Text 33"/>
          <p:cNvSpPr/>
          <p:nvPr/>
        </p:nvSpPr>
        <p:spPr>
          <a:xfrm>
            <a:off x="777240" y="50292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balances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777240" y="5413248"/>
            <a:ext cx="50292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owes what lives in a notebook at the counter.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199632" y="4846320"/>
            <a:ext cx="5486400" cy="1353312"/>
          </a:xfrm>
          <a:prstGeom prst="roundRect">
            <a:avLst>
              <a:gd name="adj" fmla="val 6081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99632" y="5047488"/>
            <a:ext cx="64008" cy="950976"/>
          </a:xfrm>
          <a:prstGeom prst="rect">
            <a:avLst/>
          </a:prstGeom>
          <a:solidFill>
            <a:srgbClr val="E8621E"/>
          </a:solidFill>
          <a:ln/>
        </p:spPr>
      </p:sp>
      <p:sp>
        <p:nvSpPr>
          <p:cNvPr id="39" name="Text 37"/>
          <p:cNvSpPr/>
          <p:nvPr/>
        </p:nvSpPr>
        <p:spPr>
          <a:xfrm>
            <a:off x="6473952" y="50292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decisions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473952" y="5413248"/>
            <a:ext cx="50292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arrive after the decision was due.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0" y="6519672"/>
            <a:ext cx="12188952" cy="13716"/>
          </a:xfrm>
          <a:prstGeom prst="rect">
            <a:avLst/>
          </a:prstGeom>
          <a:solidFill>
            <a:srgbClr val="1E3A63"/>
          </a:solidFill>
          <a:ln/>
        </p:spPr>
      </p:sp>
      <p:sp>
        <p:nvSpPr>
          <p:cNvPr id="42" name="Text 40"/>
          <p:cNvSpPr/>
          <p:nvPr/>
        </p:nvSpPr>
        <p:spPr>
          <a:xfrm>
            <a:off x="502920" y="65379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KaziOS · Business Operating System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228832" y="65379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5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EXISTING SOFTWARE FAILS HERE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a different market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21208" y="1207008"/>
            <a:ext cx="777240" cy="64008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517904"/>
            <a:ext cx="5486400" cy="2121408"/>
          </a:xfrm>
          <a:prstGeom prst="roundRect">
            <a:avLst>
              <a:gd name="adj" fmla="val 3879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792224"/>
            <a:ext cx="73152" cy="1572768"/>
          </a:xfrm>
          <a:prstGeom prst="rect">
            <a:avLst/>
          </a:prstGeom>
          <a:solidFill>
            <a:srgbClr val="F5A314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1792224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money first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95528" y="2267712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M-PESA is how most customers actually pay. Global tools treat it as an afterthought — or ignore it entirely.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99632" y="1517904"/>
            <a:ext cx="5486400" cy="2121408"/>
          </a:xfrm>
          <a:prstGeom prst="roundRect">
            <a:avLst>
              <a:gd name="adj" fmla="val 3879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9632" y="1792224"/>
            <a:ext cx="73152" cy="1572768"/>
          </a:xfrm>
          <a:prstGeom prst="rect">
            <a:avLst/>
          </a:prstGeom>
          <a:solidFill>
            <a:srgbClr val="0E9488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792224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Multi-branch by default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92240" y="2267712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 grow into branches, warehouses and agents. The software must model that shape from day one.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858768"/>
            <a:ext cx="5486400" cy="2121408"/>
          </a:xfrm>
          <a:prstGeom prst="roundRect">
            <a:avLst>
              <a:gd name="adj" fmla="val 3879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4133088"/>
            <a:ext cx="73152" cy="1572768"/>
          </a:xfrm>
          <a:prstGeom prst="rect">
            <a:avLst/>
          </a:prstGeom>
          <a:solidFill>
            <a:srgbClr val="E8621E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4133088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comes and goes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95528" y="4608576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must keep flowing on unreliable networks — offline tolerance cannot be a future luxury.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99632" y="3858768"/>
            <a:ext cx="5486400" cy="2121408"/>
          </a:xfrm>
          <a:prstGeom prst="roundRect">
            <a:avLst>
              <a:gd name="adj" fmla="val 3879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99632" y="4133088"/>
            <a:ext cx="73152" cy="1572768"/>
          </a:xfrm>
          <a:prstGeom prst="rect">
            <a:avLst/>
          </a:prstGeom>
          <a:solidFill>
            <a:srgbClr val="12A05F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4133088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that fits the market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92240" y="4608576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Foreign-currency enterprise pricing does not scale with an African SME. Plans must grow with the business.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519672"/>
            <a:ext cx="12188952" cy="13716"/>
          </a:xfrm>
          <a:prstGeom prst="rect">
            <a:avLst/>
          </a:prstGeom>
          <a:solidFill>
            <a:srgbClr val="1E3A63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65379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KaziOS · Business Operating System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28832" y="65379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5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 — everything connected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21208" y="1207008"/>
            <a:ext cx="777240" cy="64008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325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sale happens, payment, stock, customer history, books and reporting update together — automatically.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 flipV="1">
            <a:off x="2743200" y="2121408"/>
            <a:ext cx="3749040" cy="1353312"/>
          </a:xfrm>
          <a:prstGeom prst="line">
            <a:avLst/>
          </a:prstGeom>
          <a:noFill/>
          <a:ln w="19050">
            <a:solidFill>
              <a:srgbClr val="2A4A7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743200" y="2907792"/>
            <a:ext cx="3749040" cy="566928"/>
          </a:xfrm>
          <a:prstGeom prst="line">
            <a:avLst/>
          </a:prstGeom>
          <a:noFill/>
          <a:ln w="19050">
            <a:solidFill>
              <a:srgbClr val="2A4A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3474720"/>
            <a:ext cx="3749040" cy="219456"/>
          </a:xfrm>
          <a:prstGeom prst="line">
            <a:avLst/>
          </a:prstGeom>
          <a:noFill/>
          <a:ln w="19050">
            <a:solidFill>
              <a:srgbClr val="2A4A7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0" y="3474720"/>
            <a:ext cx="3749040" cy="1005840"/>
          </a:xfrm>
          <a:prstGeom prst="line">
            <a:avLst/>
          </a:prstGeom>
          <a:noFill/>
          <a:ln w="19050">
            <a:solidFill>
              <a:srgbClr val="2A4A7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3474720"/>
            <a:ext cx="3749040" cy="1792224"/>
          </a:xfrm>
          <a:prstGeom prst="line">
            <a:avLst/>
          </a:prstGeom>
          <a:noFill/>
          <a:ln w="19050">
            <a:solidFill>
              <a:srgbClr val="2A4A7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0" y="3474720"/>
            <a:ext cx="3749040" cy="2578608"/>
          </a:xfrm>
          <a:prstGeom prst="line">
            <a:avLst/>
          </a:prstGeom>
          <a:noFill/>
          <a:ln w="19050">
            <a:solidFill>
              <a:srgbClr val="2A4A7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017520"/>
            <a:ext cx="1920240" cy="914400"/>
          </a:xfrm>
          <a:prstGeom prst="roundRect">
            <a:avLst>
              <a:gd name="adj" fmla="val 12000"/>
            </a:avLst>
          </a:prstGeom>
          <a:solidFill>
            <a:srgbClr val="F5A314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01752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1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492240" y="1810512"/>
            <a:ext cx="2834640" cy="621792"/>
          </a:xfrm>
          <a:prstGeom prst="roundRect">
            <a:avLst>
              <a:gd name="adj" fmla="val 13235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93408" y="2039112"/>
            <a:ext cx="164592" cy="164592"/>
          </a:xfrm>
          <a:prstGeom prst="ellipse">
            <a:avLst/>
          </a:prstGeom>
          <a:solidFill>
            <a:srgbClr val="F5A314"/>
          </a:solidFill>
          <a:ln/>
        </p:spPr>
      </p:sp>
      <p:sp>
        <p:nvSpPr>
          <p:cNvPr id="16" name="Text 14"/>
          <p:cNvSpPr/>
          <p:nvPr/>
        </p:nvSpPr>
        <p:spPr>
          <a:xfrm>
            <a:off x="6995160" y="1810512"/>
            <a:ext cx="2194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492240" y="2596896"/>
            <a:ext cx="2834640" cy="621792"/>
          </a:xfrm>
          <a:prstGeom prst="roundRect">
            <a:avLst>
              <a:gd name="adj" fmla="val 13235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3408" y="2825496"/>
            <a:ext cx="164592" cy="164592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6995160" y="2596896"/>
            <a:ext cx="2194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492240" y="3383280"/>
            <a:ext cx="2834640" cy="621792"/>
          </a:xfrm>
          <a:prstGeom prst="roundRect">
            <a:avLst>
              <a:gd name="adj" fmla="val 13235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93408" y="3611880"/>
            <a:ext cx="164592" cy="164592"/>
          </a:xfrm>
          <a:prstGeom prst="ellipse">
            <a:avLst/>
          </a:prstGeom>
          <a:solidFill>
            <a:srgbClr val="E8621E"/>
          </a:solidFill>
          <a:ln/>
        </p:spPr>
      </p:sp>
      <p:sp>
        <p:nvSpPr>
          <p:cNvPr id="22" name="Text 20"/>
          <p:cNvSpPr/>
          <p:nvPr/>
        </p:nvSpPr>
        <p:spPr>
          <a:xfrm>
            <a:off x="6995160" y="3383280"/>
            <a:ext cx="2194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492240" y="4169664"/>
            <a:ext cx="2834640" cy="621792"/>
          </a:xfrm>
          <a:prstGeom prst="roundRect">
            <a:avLst>
              <a:gd name="adj" fmla="val 13235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3408" y="4398264"/>
            <a:ext cx="164592" cy="164592"/>
          </a:xfrm>
          <a:prstGeom prst="ellipse">
            <a:avLst/>
          </a:prstGeom>
          <a:solidFill>
            <a:srgbClr val="12A05F"/>
          </a:solidFill>
          <a:ln/>
        </p:spPr>
      </p:sp>
      <p:sp>
        <p:nvSpPr>
          <p:cNvPr id="25" name="Text 23"/>
          <p:cNvSpPr/>
          <p:nvPr/>
        </p:nvSpPr>
        <p:spPr>
          <a:xfrm>
            <a:off x="6995160" y="4169664"/>
            <a:ext cx="2194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6492240" y="4956048"/>
            <a:ext cx="2834640" cy="621792"/>
          </a:xfrm>
          <a:prstGeom prst="roundRect">
            <a:avLst>
              <a:gd name="adj" fmla="val 13235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93408" y="5184648"/>
            <a:ext cx="164592" cy="164592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28" name="Text 26"/>
          <p:cNvSpPr/>
          <p:nvPr/>
        </p:nvSpPr>
        <p:spPr>
          <a:xfrm>
            <a:off x="6995160" y="4956048"/>
            <a:ext cx="2194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6492240" y="5742432"/>
            <a:ext cx="2834640" cy="621792"/>
          </a:xfrm>
          <a:prstGeom prst="roundRect">
            <a:avLst>
              <a:gd name="adj" fmla="val 13235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3408" y="5971032"/>
            <a:ext cx="164592" cy="164592"/>
          </a:xfrm>
          <a:prstGeom prst="ellipse">
            <a:avLst/>
          </a:prstGeom>
          <a:solidFill>
            <a:srgbClr val="F5A314"/>
          </a:solidFill>
          <a:ln/>
        </p:spPr>
      </p:sp>
      <p:sp>
        <p:nvSpPr>
          <p:cNvPr id="31" name="Text 29"/>
          <p:cNvSpPr/>
          <p:nvPr/>
        </p:nvSpPr>
        <p:spPr>
          <a:xfrm>
            <a:off x="6995160" y="5742432"/>
            <a:ext cx="2194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Insights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822960" y="4617720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business transaction should not exist in isolation.”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22960" y="521208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KaziOS design principle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0" y="6519672"/>
            <a:ext cx="12188952" cy="13716"/>
          </a:xfrm>
          <a:prstGeom prst="rect">
            <a:avLst/>
          </a:prstGeom>
          <a:solidFill>
            <a:srgbClr val="1E3A63"/>
          </a:solidFill>
          <a:ln/>
        </p:spPr>
      </p:sp>
      <p:sp>
        <p:nvSpPr>
          <p:cNvPr id="35" name="Text 33"/>
          <p:cNvSpPr/>
          <p:nvPr/>
        </p:nvSpPr>
        <p:spPr>
          <a:xfrm>
            <a:off x="502920" y="65379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KaziOS · Business Operating System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228832" y="65379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5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business runs on, in one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21208" y="1207008"/>
            <a:ext cx="777240" cy="64008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280160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modules are live today — the deeper workflows are in active build.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1645920"/>
            <a:ext cx="2651760" cy="1920240"/>
          </a:xfrm>
          <a:prstGeom prst="roundRect">
            <a:avLst>
              <a:gd name="adj" fmla="val 4286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65376"/>
            <a:ext cx="457200" cy="64008"/>
          </a:xfrm>
          <a:prstGeom prst="rect">
            <a:avLst/>
          </a:prstGeom>
          <a:solidFill>
            <a:srgbClr val="F5A314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2011680"/>
            <a:ext cx="224942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of Sale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04088" y="2560320"/>
            <a:ext cx="224942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cart, discounts, tax, receipts and cashier workflows.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28416" y="1645920"/>
            <a:ext cx="2651760" cy="1920240"/>
          </a:xfrm>
          <a:prstGeom prst="roundRect">
            <a:avLst>
              <a:gd name="adj" fmla="val 4286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9584" y="1865376"/>
            <a:ext cx="457200" cy="64008"/>
          </a:xfrm>
          <a:prstGeom prst="rect">
            <a:avLst/>
          </a:prstGeom>
          <a:solidFill>
            <a:srgbClr val="0E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3529584" y="2011680"/>
            <a:ext cx="224942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&amp; Inventory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529584" y="2560320"/>
            <a:ext cx="224942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SKUs, barcodes, categories, warehouses and stock movements.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53912" y="1645920"/>
            <a:ext cx="2651760" cy="1920240"/>
          </a:xfrm>
          <a:prstGeom prst="roundRect">
            <a:avLst>
              <a:gd name="adj" fmla="val 4286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55080" y="1865376"/>
            <a:ext cx="457200" cy="64008"/>
          </a:xfrm>
          <a:prstGeom prst="rect">
            <a:avLst/>
          </a:prstGeom>
          <a:solidFill>
            <a:srgbClr val="F5A314"/>
          </a:solidFill>
          <a:ln/>
        </p:spPr>
      </p:sp>
      <p:sp>
        <p:nvSpPr>
          <p:cNvPr id="16" name="Text 14"/>
          <p:cNvSpPr/>
          <p:nvPr/>
        </p:nvSpPr>
        <p:spPr>
          <a:xfrm>
            <a:off x="6355080" y="2011680"/>
            <a:ext cx="224942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355080" y="2560320"/>
            <a:ext cx="224942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Profiles, history, outstanding balances and returns.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79408" y="1645920"/>
            <a:ext cx="2651760" cy="1920240"/>
          </a:xfrm>
          <a:prstGeom prst="roundRect">
            <a:avLst>
              <a:gd name="adj" fmla="val 4286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80576" y="1865376"/>
            <a:ext cx="457200" cy="64008"/>
          </a:xfrm>
          <a:prstGeom prst="rect">
            <a:avLst/>
          </a:prstGeom>
          <a:solidFill>
            <a:srgbClr val="0E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9180576" y="2011680"/>
            <a:ext cx="224942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&amp; Invoicing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180576" y="2560320"/>
            <a:ext cx="224942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Invoices, line items, partial payments and statuses.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02920" y="3749040"/>
            <a:ext cx="2651760" cy="1920240"/>
          </a:xfrm>
          <a:prstGeom prst="roundRect">
            <a:avLst>
              <a:gd name="adj" fmla="val 4286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4088" y="3968496"/>
            <a:ext cx="457200" cy="64008"/>
          </a:xfrm>
          <a:prstGeom prst="rect">
            <a:avLst/>
          </a:prstGeom>
          <a:solidFill>
            <a:srgbClr val="F5A314"/>
          </a:solidFill>
          <a:ln/>
        </p:spPr>
      </p:sp>
      <p:sp>
        <p:nvSpPr>
          <p:cNvPr id="24" name="Text 22"/>
          <p:cNvSpPr/>
          <p:nvPr/>
        </p:nvSpPr>
        <p:spPr>
          <a:xfrm>
            <a:off x="704088" y="4114800"/>
            <a:ext cx="224942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Purchasing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04088" y="4663440"/>
            <a:ext cx="224942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→ purchase order → receiving → stock → balance.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328416" y="3749040"/>
            <a:ext cx="2651760" cy="1920240"/>
          </a:xfrm>
          <a:prstGeom prst="roundRect">
            <a:avLst>
              <a:gd name="adj" fmla="val 4286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9584" y="3968496"/>
            <a:ext cx="457200" cy="64008"/>
          </a:xfrm>
          <a:prstGeom prst="rect">
            <a:avLst/>
          </a:prstGeom>
          <a:solidFill>
            <a:srgbClr val="0E9488"/>
          </a:solidFill>
          <a:ln/>
        </p:spPr>
      </p:sp>
      <p:sp>
        <p:nvSpPr>
          <p:cNvPr id="28" name="Text 26"/>
          <p:cNvSpPr/>
          <p:nvPr/>
        </p:nvSpPr>
        <p:spPr>
          <a:xfrm>
            <a:off x="3529584" y="4114800"/>
            <a:ext cx="224942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3529584" y="4663440"/>
            <a:ext cx="224942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(Paystack) and M-PESA rails, refunds and tracking.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53912" y="3749040"/>
            <a:ext cx="2651760" cy="1920240"/>
          </a:xfrm>
          <a:prstGeom prst="roundRect">
            <a:avLst>
              <a:gd name="adj" fmla="val 4286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55080" y="3968496"/>
            <a:ext cx="457200" cy="64008"/>
          </a:xfrm>
          <a:prstGeom prst="rect">
            <a:avLst/>
          </a:prstGeom>
          <a:solidFill>
            <a:srgbClr val="F5A314"/>
          </a:solidFill>
          <a:ln/>
        </p:spPr>
      </p:sp>
      <p:sp>
        <p:nvSpPr>
          <p:cNvPr id="32" name="Text 30"/>
          <p:cNvSpPr/>
          <p:nvPr/>
        </p:nvSpPr>
        <p:spPr>
          <a:xfrm>
            <a:off x="6355080" y="4114800"/>
            <a:ext cx="224942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6355080" y="4663440"/>
            <a:ext cx="224942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Sales, stock, customer and financial reports.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979408" y="3749040"/>
            <a:ext cx="2651760" cy="1920240"/>
          </a:xfrm>
          <a:prstGeom prst="roundRect">
            <a:avLst>
              <a:gd name="adj" fmla="val 4286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80576" y="3968496"/>
            <a:ext cx="457200" cy="64008"/>
          </a:xfrm>
          <a:prstGeom prst="rect">
            <a:avLst/>
          </a:prstGeom>
          <a:solidFill>
            <a:srgbClr val="0E9488"/>
          </a:solidFill>
          <a:ln/>
        </p:spPr>
      </p:sp>
      <p:sp>
        <p:nvSpPr>
          <p:cNvPr id="36" name="Text 34"/>
          <p:cNvSpPr/>
          <p:nvPr/>
        </p:nvSpPr>
        <p:spPr>
          <a:xfrm>
            <a:off x="9180576" y="4114800"/>
            <a:ext cx="224942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Insights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9180576" y="4663440"/>
            <a:ext cx="224942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intelligence grounded in your own numbers.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02920" y="5852160"/>
            <a:ext cx="11128248" cy="457200"/>
          </a:xfrm>
          <a:prstGeom prst="roundRect">
            <a:avLst>
              <a:gd name="adj" fmla="val 20000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2920" y="5852160"/>
            <a:ext cx="11128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Multi-branch  ·  Warehouses  ·  Roles &amp; permissions  ·  Audit logging  ·  Notifications  ·  Settings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0" y="6519672"/>
            <a:ext cx="12188952" cy="13716"/>
          </a:xfrm>
          <a:prstGeom prst="rect">
            <a:avLst/>
          </a:prstGeom>
          <a:solidFill>
            <a:srgbClr val="1E3A63"/>
          </a:solidFill>
          <a:ln/>
        </p:spPr>
      </p:sp>
      <p:sp>
        <p:nvSpPr>
          <p:cNvPr id="41" name="Text 39"/>
          <p:cNvSpPr/>
          <p:nvPr/>
        </p:nvSpPr>
        <p:spPr>
          <a:xfrm>
            <a:off x="502920" y="65379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KaziOS · Business Operating System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228832" y="65379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5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INTEGRATION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that works the way Africa pays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21208" y="1207008"/>
            <a:ext cx="777240" cy="64008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737360"/>
            <a:ext cx="73152" cy="1371600"/>
          </a:xfrm>
          <a:prstGeom prst="rect">
            <a:avLst/>
          </a:prstGeom>
          <a:solidFill>
            <a:srgbClr val="F5A314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1700784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Paystack — cards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95528" y="2139696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checkout with webhook-verified confirmation and idempotent activation — a payment can never be granted twice.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3520440"/>
            <a:ext cx="5394960" cy="2331720"/>
          </a:xfrm>
          <a:prstGeom prst="roundRect">
            <a:avLst>
              <a:gd name="adj" fmla="val 3529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3776472"/>
            <a:ext cx="73152" cy="1828800"/>
          </a:xfrm>
          <a:prstGeom prst="rect">
            <a:avLst/>
          </a:prstGeom>
          <a:solidFill>
            <a:srgbClr val="12A05F"/>
          </a:solidFill>
          <a:ln/>
        </p:spPr>
      </p:sp>
      <p:sp>
        <p:nvSpPr>
          <p:cNvPr id="11" name="Text 9"/>
          <p:cNvSpPr/>
          <p:nvPr/>
        </p:nvSpPr>
        <p:spPr>
          <a:xfrm>
            <a:off x="795528" y="3739896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M-PESA — Safaricom Daraja STK Push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95528" y="4178808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approves on their own phone with their PIN. The server then re-queries Safaricom to verify — the callback can only trigger a check, never grant access.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72200" y="1481328"/>
            <a:ext cx="5458968" cy="4370832"/>
          </a:xfrm>
          <a:prstGeom prst="roundRect">
            <a:avLst>
              <a:gd name="adj" fmla="val 1883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700784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trustworthy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46520" y="2194560"/>
            <a:ext cx="49377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checked against the plan price — every time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activation: one payment, one grant, ever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Unsigned webhook can only trigger a verification query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 aware: undecided payments poll politely, then retry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plan and paid plans, monthly or annual, one engine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portal: invoices, receipts, plan changes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6016752"/>
            <a:ext cx="11128248" cy="402336"/>
          </a:xfrm>
          <a:prstGeom prst="roundRect">
            <a:avLst>
              <a:gd name="adj" fmla="val 20455"/>
            </a:avLst>
          </a:prstGeom>
          <a:solidFill>
            <a:srgbClr val="102542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6016752"/>
            <a:ext cx="11128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rails share one subscription engine — same plans, same limits, same billing portal.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0" y="6519672"/>
            <a:ext cx="12188952" cy="13716"/>
          </a:xfrm>
          <a:prstGeom prst="rect">
            <a:avLst/>
          </a:prstGeom>
          <a:solidFill>
            <a:srgbClr val="1E3A63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65379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KaziOS · Business Operating System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28832" y="65379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5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 SaaS — paid where Africa pays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21208" y="1207008"/>
            <a:ext cx="777240" cy="64008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517904"/>
            <a:ext cx="3611880" cy="2395728"/>
          </a:xfrm>
          <a:prstGeom prst="roundRect">
            <a:avLst>
              <a:gd name="adj" fmla="val 3435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792224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plan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777240" y="2304288"/>
            <a:ext cx="548640" cy="54864"/>
          </a:xfrm>
          <a:prstGeom prst="rect">
            <a:avLst/>
          </a:prstGeom>
          <a:solidFill>
            <a:srgbClr val="F5A314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" y="2468880"/>
            <a:ext cx="310896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free with core features and sensible limits. The door stays wide open.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79392" y="1371600"/>
            <a:ext cx="3611880" cy="2688336"/>
          </a:xfrm>
          <a:prstGeom prst="roundRect">
            <a:avLst>
              <a:gd name="adj" fmla="val 3061"/>
            </a:avLst>
          </a:prstGeom>
          <a:solidFill>
            <a:srgbClr val="F5A314"/>
          </a:solidFill>
          <a:ln/>
        </p:spPr>
      </p:sp>
      <p:sp>
        <p:nvSpPr>
          <p:cNvPr id="10" name="Text 8"/>
          <p:cNvSpPr/>
          <p:nvPr/>
        </p:nvSpPr>
        <p:spPr>
          <a:xfrm>
            <a:off x="4535424" y="16459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81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plans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4553712" y="2157984"/>
            <a:ext cx="548640" cy="54864"/>
          </a:xfrm>
          <a:prstGeom prst="rect">
            <a:avLst/>
          </a:prstGeom>
          <a:solidFill>
            <a:srgbClr val="081B36"/>
          </a:solidFill>
          <a:ln/>
        </p:spPr>
      </p:sp>
      <p:sp>
        <p:nvSpPr>
          <p:cNvPr id="12" name="Text 10"/>
          <p:cNvSpPr/>
          <p:nvPr/>
        </p:nvSpPr>
        <p:spPr>
          <a:xfrm>
            <a:off x="4535424" y="2322576"/>
            <a:ext cx="3108960" cy="14996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81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capacity and features. Monthly or annual billing, cancelled any time.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55864" y="1517904"/>
            <a:ext cx="3611880" cy="2395728"/>
          </a:xfrm>
          <a:prstGeom prst="roundRect">
            <a:avLst>
              <a:gd name="adj" fmla="val 3435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11896" y="1792224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Grows with you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8330184" y="2304288"/>
            <a:ext cx="548640" cy="54864"/>
          </a:xfrm>
          <a:prstGeom prst="rect">
            <a:avLst/>
          </a:prstGeom>
          <a:solidFill>
            <a:srgbClr val="F5A314"/>
          </a:solidFill>
          <a:ln/>
        </p:spPr>
      </p:sp>
      <p:sp>
        <p:nvSpPr>
          <p:cNvPr id="16" name="Text 14"/>
          <p:cNvSpPr/>
          <p:nvPr/>
        </p:nvSpPr>
        <p:spPr>
          <a:xfrm>
            <a:off x="8311896" y="2468880"/>
            <a:ext cx="310896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Direction: as a business adds branches and teams, its tier grows with it.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4315968"/>
            <a:ext cx="11128248" cy="1737360"/>
          </a:xfrm>
          <a:prstGeom prst="roundRect">
            <a:avLst>
              <a:gd name="adj" fmla="val 4737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5528" y="451713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model works here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95528" y="4901184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payment methods (M-PESA) lift conversion where cards are rare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Entitlements are enforced server-side — limits stay honest, clients cannot spoof them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billing rewards commitment and smooths cash flow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519672"/>
            <a:ext cx="12188952" cy="13716"/>
          </a:xfrm>
          <a:prstGeom prst="rect">
            <a:avLst/>
          </a:prstGeom>
          <a:solidFill>
            <a:srgbClr val="1E3A63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65379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KaziOS · Business Operating System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28832" y="65379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5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&amp; USERS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first — built for African markets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21208" y="1207008"/>
            <a:ext cx="777240" cy="64008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1732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KaziOS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6309360" cy="914400"/>
          </a:xfrm>
          <a:prstGeom prst="roundRect">
            <a:avLst>
              <a:gd name="adj" fmla="val 9000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2157984"/>
            <a:ext cx="347472" cy="347472"/>
          </a:xfrm>
          <a:prstGeom prst="ellipse">
            <a:avLst/>
          </a:prstGeom>
          <a:solidFill>
            <a:srgbClr val="F5A314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2002536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owner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280160" y="233172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visibility across every branch, in real time.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6309360" cy="914400"/>
          </a:xfrm>
          <a:prstGeom prst="roundRect">
            <a:avLst>
              <a:gd name="adj" fmla="val 9000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3191256"/>
            <a:ext cx="347472" cy="347472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1280160" y="3035808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280160" y="3364992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 checkout: few clicks, receipts, less training.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941064"/>
            <a:ext cx="6309360" cy="914400"/>
          </a:xfrm>
          <a:prstGeom prst="roundRect">
            <a:avLst>
              <a:gd name="adj" fmla="val 9000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9808" y="4224528"/>
            <a:ext cx="347472" cy="347472"/>
          </a:xfrm>
          <a:prstGeom prst="ellipse">
            <a:avLst/>
          </a:prstGeom>
          <a:solidFill>
            <a:srgbClr val="E8621E"/>
          </a:solidFill>
          <a:ln/>
        </p:spPr>
      </p:sp>
      <p:sp>
        <p:nvSpPr>
          <p:cNvPr id="16" name="Text 14"/>
          <p:cNvSpPr/>
          <p:nvPr/>
        </p:nvSpPr>
        <p:spPr>
          <a:xfrm>
            <a:off x="1280160" y="406908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 manager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280160" y="439826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truth — what moved, what is low, what was ordered.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4974336"/>
            <a:ext cx="6309360" cy="914400"/>
          </a:xfrm>
          <a:prstGeom prst="roundRect">
            <a:avLst>
              <a:gd name="adj" fmla="val 9000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" y="5257800"/>
            <a:ext cx="347472" cy="347472"/>
          </a:xfrm>
          <a:prstGeom prst="ellipse">
            <a:avLst/>
          </a:prstGeom>
          <a:solidFill>
            <a:srgbClr val="12A05F"/>
          </a:solidFill>
          <a:ln/>
        </p:spPr>
      </p:sp>
      <p:sp>
        <p:nvSpPr>
          <p:cNvPr id="20" name="Text 18"/>
          <p:cNvSpPr/>
          <p:nvPr/>
        </p:nvSpPr>
        <p:spPr>
          <a:xfrm>
            <a:off x="1280160" y="5102352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accountant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280160" y="5431536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books: invoices, payments and customer balances.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40880" y="1417320"/>
            <a:ext cx="4590288" cy="4645152"/>
          </a:xfrm>
          <a:prstGeom prst="roundRect">
            <a:avLst>
              <a:gd name="adj" fmla="val 1793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0" y="16459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start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0" y="2066544"/>
            <a:ext cx="4069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retailers &amp; wholesalers in Kenya — shops, hardware, groceries, pharmacies, distributors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Multi-branch businesses that outgrew spreadsheets and single-purpose apps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path across Africa as payment rails and tax integrations land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315200" y="422452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315200" y="4626864"/>
            <a:ext cx="40690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payments are becoming the default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authorities are digitising invoicing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demand one source of truth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0" y="6519672"/>
            <a:ext cx="12188952" cy="13716"/>
          </a:xfrm>
          <a:prstGeom prst="rect">
            <a:avLst/>
          </a:prstGeom>
          <a:solidFill>
            <a:srgbClr val="1E3A63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65379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KaziOS · Business Operating System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28832" y="65379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5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in public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21208" y="1207008"/>
            <a:ext cx="777240" cy="64008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335024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0B1C39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335024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190+ passing tests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154680" y="1335024"/>
            <a:ext cx="2834640" cy="310896"/>
          </a:xfrm>
          <a:prstGeom prst="roundRect">
            <a:avLst>
              <a:gd name="adj" fmla="val 50000"/>
            </a:avLst>
          </a:prstGeom>
          <a:solidFill>
            <a:srgbClr val="0B1C39"/>
          </a:solidFill>
          <a:ln/>
        </p:spPr>
      </p:sp>
      <p:sp>
        <p:nvSpPr>
          <p:cNvPr id="8" name="Text 6"/>
          <p:cNvSpPr/>
          <p:nvPr/>
        </p:nvSpPr>
        <p:spPr>
          <a:xfrm>
            <a:off x="3154680" y="1335024"/>
            <a:ext cx="2834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Typecheck + lint gates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72200" y="1335024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0B1C39"/>
          </a:solidFill>
          <a:ln/>
        </p:spPr>
      </p:sp>
      <p:sp>
        <p:nvSpPr>
          <p:cNvPr id="10" name="Text 8"/>
          <p:cNvSpPr/>
          <p:nvPr/>
        </p:nvSpPr>
        <p:spPr>
          <a:xfrm>
            <a:off x="6172200" y="1335024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GitHub repo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006840" y="1335024"/>
            <a:ext cx="2624328" cy="310896"/>
          </a:xfrm>
          <a:prstGeom prst="roundRect">
            <a:avLst>
              <a:gd name="adj" fmla="val 50000"/>
            </a:avLst>
          </a:prstGeom>
          <a:solidFill>
            <a:srgbClr val="0B1C39"/>
          </a:solidFill>
          <a:ln/>
        </p:spPr>
      </p:sp>
      <p:sp>
        <p:nvSpPr>
          <p:cNvPr id="12" name="Text 10"/>
          <p:cNvSpPr/>
          <p:nvPr/>
        </p:nvSpPr>
        <p:spPr>
          <a:xfrm>
            <a:off x="9006840" y="1335024"/>
            <a:ext cx="26243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deployed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1828800"/>
            <a:ext cx="5486400" cy="4206240"/>
          </a:xfrm>
          <a:prstGeom prst="roundRect">
            <a:avLst>
              <a:gd name="adj" fmla="val 1957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5528" y="2066544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12A05F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2066544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81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5528" y="2523744"/>
            <a:ext cx="49377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organizations, roles &amp; audit logging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Products, customers, invoices, payments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Branches, warehouses, settings, notifications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foundation and reporting foundation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plans, free tier, feature entitlements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Paystack + M-PESA payment rails, billing portal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Docs: architecture, subscriptions, M-PESA walkthrough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72200" y="1828800"/>
            <a:ext cx="5458968" cy="4206240"/>
          </a:xfrm>
          <a:prstGeom prst="roundRect">
            <a:avLst>
              <a:gd name="adj" fmla="val 1957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64808" y="206654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19" name="Text 17"/>
          <p:cNvSpPr/>
          <p:nvPr/>
        </p:nvSpPr>
        <p:spPr>
          <a:xfrm>
            <a:off x="6464808" y="2066544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81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ACTIVE BUILD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64808" y="2523744"/>
            <a:ext cx="49377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cashier workflow &amp; barcode scanning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Returns, refunds, split payments, cashier shifts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ledger, transfers &amp; stocktaking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Purchasing lifecycle &amp; supplier balances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 core (GL, receivables/payables, P&amp;L)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business copilot across every module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POS · KRA eTIMS · WhatsApp &amp; SMS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519672"/>
            <a:ext cx="12188952" cy="13716"/>
          </a:xfrm>
          <a:prstGeom prst="rect">
            <a:avLst/>
          </a:prstGeom>
          <a:solidFill>
            <a:srgbClr val="1E3A63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65379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KaziOS · Business Operating System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28832" y="65379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5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Modern, typed, tested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21208" y="1207008"/>
            <a:ext cx="777240" cy="64008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3602736" cy="3794760"/>
          </a:xfrm>
          <a:prstGeom prst="roundRect">
            <a:avLst>
              <a:gd name="adj" fmla="val 2284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0664" y="1737360"/>
            <a:ext cx="502920" cy="73152"/>
          </a:xfrm>
          <a:prstGeom prst="rect">
            <a:avLst/>
          </a:prstGeom>
          <a:solidFill>
            <a:srgbClr val="F5A314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883664"/>
            <a:ext cx="3127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0664" y="2340864"/>
            <a:ext cx="31272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TypeScript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build + Tailwind CSS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TanStack Router &amp; Query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Radix UI · Recharts charts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+ Testing Library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88536" y="1481328"/>
            <a:ext cx="3602736" cy="3794760"/>
          </a:xfrm>
          <a:prstGeom prst="roundRect">
            <a:avLst>
              <a:gd name="adj" fmla="val 2284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1737360"/>
            <a:ext cx="502920" cy="73152"/>
          </a:xfrm>
          <a:prstGeom prst="rect">
            <a:avLst/>
          </a:prstGeom>
          <a:solidFill>
            <a:srgbClr val="0E9488"/>
          </a:solidFill>
          <a:ln/>
        </p:spPr>
      </p:sp>
      <p:sp>
        <p:nvSpPr>
          <p:cNvPr id="11" name="Text 9"/>
          <p:cNvSpPr/>
          <p:nvPr/>
        </p:nvSpPr>
        <p:spPr>
          <a:xfrm>
            <a:off x="4526280" y="1883664"/>
            <a:ext cx="3127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26280" y="2340864"/>
            <a:ext cx="31272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Zod request validation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sessions + argon2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+ Helmet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BullMQ background jobs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74152" y="1481328"/>
            <a:ext cx="3602736" cy="3794760"/>
          </a:xfrm>
          <a:prstGeom prst="roundRect">
            <a:avLst>
              <a:gd name="adj" fmla="val 2284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11896" y="1737360"/>
            <a:ext cx="502920" cy="73152"/>
          </a:xfrm>
          <a:prstGeom prst="rect">
            <a:avLst/>
          </a:prstGeom>
          <a:solidFill>
            <a:srgbClr val="E8621E"/>
          </a:solidFill>
          <a:ln/>
        </p:spPr>
      </p:sp>
      <p:sp>
        <p:nvSpPr>
          <p:cNvPr id="15" name="Text 13"/>
          <p:cNvSpPr/>
          <p:nvPr/>
        </p:nvSpPr>
        <p:spPr>
          <a:xfrm>
            <a:off x="8311896" y="1883664"/>
            <a:ext cx="3127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INFRA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11896" y="2340864"/>
            <a:ext cx="31272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(Neon)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 + migrations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sessions &amp; cache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Monorepo: 6 shared packages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deployment (Render)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5486400"/>
            <a:ext cx="11128248" cy="841248"/>
          </a:xfrm>
          <a:prstGeom prst="roundRect">
            <a:avLst>
              <a:gd name="adj" fmla="val 9783"/>
            </a:avLst>
          </a:prstGeom>
          <a:solidFill>
            <a:srgbClr val="102542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486400"/>
            <a:ext cx="106070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gates: </a:t>
            </a:r>
            <a:pPr algn="ctr" indent="0" marL="0">
              <a:buNone/>
            </a:pPr>
            <a:r>
              <a:rPr lang="en-US" sz="1300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typecheck · lint · 190+ unit tests · integration suite      </a:t>
            </a:r>
            <a:pPr algn="ctr" indent="0" marL="0">
              <a:buNone/>
            </a:pPr>
            <a:r>
              <a:rPr lang="en-US" sz="130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Security: </a:t>
            </a:r>
            <a:pPr algn="ctr" indent="0" marL="0">
              <a:buNone/>
            </a:pPr>
            <a:r>
              <a:rPr lang="en-US" sz="1300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· audit trail · hashed secrets · HTTPS-only callbacks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6519672"/>
            <a:ext cx="12188952" cy="13716"/>
          </a:xfrm>
          <a:prstGeom prst="rect">
            <a:avLst/>
          </a:prstGeom>
          <a:solidFill>
            <a:srgbClr val="1E3A63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65379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KaziOS · Business Operating System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28832" y="65379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5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→ Next → Later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21208" y="1207008"/>
            <a:ext cx="777240" cy="64008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3474720" cy="4480560"/>
          </a:xfrm>
          <a:prstGeom prst="roundRect">
            <a:avLst>
              <a:gd name="adj" fmla="val 2368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81328"/>
            <a:ext cx="3474720" cy="640080"/>
          </a:xfrm>
          <a:prstGeom prst="roundRect">
            <a:avLst>
              <a:gd name="adj" fmla="val 12857"/>
            </a:avLst>
          </a:prstGeom>
          <a:solidFill>
            <a:srgbClr val="12A05F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481328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rgbClr val="081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22376" y="2286000"/>
            <a:ext cx="30358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2A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production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22376" y="2706624"/>
            <a:ext cx="3035808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platform &amp; multi-branch ops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Paystack + M-PESA payment rails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&amp; paid subscription tiers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&amp; test suite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995928" y="3291840"/>
            <a:ext cx="338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352544" y="1481328"/>
            <a:ext cx="3474720" cy="4480560"/>
          </a:xfrm>
          <a:prstGeom prst="roundRect">
            <a:avLst>
              <a:gd name="adj" fmla="val 2368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52544" y="1481328"/>
            <a:ext cx="3474720" cy="640080"/>
          </a:xfrm>
          <a:prstGeom prst="roundRect">
            <a:avLst>
              <a:gd name="adj" fmla="val 12857"/>
            </a:avLst>
          </a:prstGeom>
          <a:solidFill>
            <a:srgbClr val="F5A314"/>
          </a:solidFill>
          <a:ln/>
        </p:spPr>
      </p:sp>
      <p:sp>
        <p:nvSpPr>
          <p:cNvPr id="13" name="Text 11"/>
          <p:cNvSpPr/>
          <p:nvPr/>
        </p:nvSpPr>
        <p:spPr>
          <a:xfrm>
            <a:off x="4352544" y="1481328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rgbClr val="081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30358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 workflows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0" y="2706624"/>
            <a:ext cx="3035808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cashier workflow &amp; shifts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ledger, transfers, stocktaking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Purchasing lifecycle &amp; suppliers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 core (GL, AR/AP, P&amp;L)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845552" y="3291840"/>
            <a:ext cx="338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8202168" y="1481328"/>
            <a:ext cx="3474720" cy="4480560"/>
          </a:xfrm>
          <a:prstGeom prst="roundRect">
            <a:avLst>
              <a:gd name="adj" fmla="val 2368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02168" y="1481328"/>
            <a:ext cx="3474720" cy="640080"/>
          </a:xfrm>
          <a:prstGeom prst="roundRect">
            <a:avLst>
              <a:gd name="adj" fmla="val 12857"/>
            </a:avLst>
          </a:prstGeom>
          <a:solidFill>
            <a:srgbClr val="0E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8202168" y="1481328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rgbClr val="081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421624" y="2286000"/>
            <a:ext cx="30358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E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&amp; scale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21624" y="2706624"/>
            <a:ext cx="3035808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business copilot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POS for intermittent networks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 eTIMS compliance integration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WhatsApp/SMS &amp; pan-African expansion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0" y="6519672"/>
            <a:ext cx="12188952" cy="13716"/>
          </a:xfrm>
          <a:prstGeom prst="rect">
            <a:avLst/>
          </a:prstGeom>
          <a:solidFill>
            <a:srgbClr val="1E3A63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65379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KaziOS · Business Operating System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28832" y="65379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5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KAZIOS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by design — serious under the hood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21208" y="1207008"/>
            <a:ext cx="777240" cy="64008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517904"/>
            <a:ext cx="5486400" cy="1975104"/>
          </a:xfrm>
          <a:prstGeom prst="roundRect">
            <a:avLst>
              <a:gd name="adj" fmla="val 4167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773936"/>
            <a:ext cx="73152" cy="1463040"/>
          </a:xfrm>
          <a:prstGeom prst="rect">
            <a:avLst/>
          </a:prstGeom>
          <a:solidFill>
            <a:srgbClr val="F5A314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1755648"/>
            <a:ext cx="4937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here, not adapted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795528" y="2212848"/>
            <a:ext cx="493776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money, multi-branch reality and Kenyan compliance are the default path — not future tickets on a foreign roadmap.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99632" y="1517904"/>
            <a:ext cx="5486400" cy="1975104"/>
          </a:xfrm>
          <a:prstGeom prst="roundRect">
            <a:avLst>
              <a:gd name="adj" fmla="val 4167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9632" y="1773936"/>
            <a:ext cx="73152" cy="1463040"/>
          </a:xfrm>
          <a:prstGeom prst="rect">
            <a:avLst/>
          </a:prstGeom>
          <a:solidFill>
            <a:srgbClr val="0E9488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755648"/>
            <a:ext cx="4937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data model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6492240" y="2212848"/>
            <a:ext cx="493776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sale updates six systems. No reconciliation tax, no drift between the till, the shelf and the books.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694176"/>
            <a:ext cx="5486400" cy="1975104"/>
          </a:xfrm>
          <a:prstGeom prst="roundRect">
            <a:avLst>
              <a:gd name="adj" fmla="val 4167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3950208"/>
            <a:ext cx="73152" cy="1463040"/>
          </a:xfrm>
          <a:prstGeom prst="rect">
            <a:avLst/>
          </a:prstGeom>
          <a:solidFill>
            <a:srgbClr val="E8621E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3931920"/>
            <a:ext cx="4937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you can audit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795528" y="4389120"/>
            <a:ext cx="493776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repo, typed codebase, 190+ tests, and written docs for every payment rail — including the M-PESA walkthrough.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199632" y="3694176"/>
            <a:ext cx="5486400" cy="1975104"/>
          </a:xfrm>
          <a:prstGeom prst="roundRect">
            <a:avLst>
              <a:gd name="adj" fmla="val 4167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99632" y="3950208"/>
            <a:ext cx="73152" cy="1463040"/>
          </a:xfrm>
          <a:prstGeom prst="rect">
            <a:avLst/>
          </a:prstGeom>
          <a:solidFill>
            <a:srgbClr val="12A05F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3931920"/>
            <a:ext cx="4937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on the ground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6492240" y="4389120"/>
            <a:ext cx="493776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 Kioko — building in Kenya, shipping in public, iterating toward what African businesses actually need.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02920" y="5806440"/>
            <a:ext cx="111282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your whole business on one system.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0" y="6519672"/>
            <a:ext cx="12188952" cy="13716"/>
          </a:xfrm>
          <a:prstGeom prst="rect">
            <a:avLst/>
          </a:prstGeom>
          <a:solidFill>
            <a:srgbClr val="1E3A63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65379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KaziOS · Business Operating System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28832" y="65379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ZBOOK/AppData/Local/Temp/kazi-deck/assets/icon-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920240"/>
            <a:ext cx="2660904" cy="2834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46320" y="2148840"/>
            <a:ext cx="6583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4" name="Shape 1"/>
          <p:cNvSpPr/>
          <p:nvPr/>
        </p:nvSpPr>
        <p:spPr>
          <a:xfrm>
            <a:off x="4892040" y="3108960"/>
            <a:ext cx="1005840" cy="64008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Text 2"/>
          <p:cNvSpPr/>
          <p:nvPr/>
        </p:nvSpPr>
        <p:spPr>
          <a:xfrm>
            <a:off x="4846320" y="3310128"/>
            <a:ext cx="6583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KaziOS — the AI-native operating system for African businesses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846320" y="4114800"/>
            <a:ext cx="65836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mathewtech200@gmail.com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github.com/MathewTech254/KaziOs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demo welcome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KaziOS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KaziOS — Competition Presentation</dc:title>
  <dc:subject>The AI-native operating system for African businesses</dc:subject>
  <dc:creator>Mathew Kioko</dc:creator>
  <cp:lastModifiedBy>Mathew Kioko</cp:lastModifiedBy>
  <cp:revision>1</cp:revision>
  <dcterms:created xsi:type="dcterms:W3CDTF">2026-10-10T08:41:53Z</dcterms:created>
  <dcterms:modified xsi:type="dcterms:W3CDTF">2026-10-10T08:41:53Z</dcterms:modified>
</cp:coreProperties>
</file>