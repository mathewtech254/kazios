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59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4115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one-liner: KaziOS is an operating system for African businesses — sales, stock, customers, books and payments in one connected system. I'm Mathew Kioko, founder and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SMEs stitch together separate apps for each job. None of them talk to each other, so every sale creates reconciliation work and the numbers never 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wedge: global ERPs assume card payments, one HQ and always-on internet. KaziOS starts from African market realities.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architectural idea, straight from the README: one sale fans out to six systems. No re-keying, no drift, no reconciliation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one row only — juries skim. Point out that selling, stock, customers, purchasing, invoicing and payments are one data model, not eight apps glued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rails, one engine. The M-PESA side is the story: Daraja STK Push, server-side re-query as the only source of truth, idempotency and amount checks — payments engineering, not a button. The screenshot is the live billing portal with the Card/M-PESA rail toggle. Full trust list also covers: free plan and paid plans, monthly or annual, run on one engine; the billing portal issues invoices, receipts and plan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invented pricing numbers — the plan table is server-configurable per market. The point: free tier for adoption, paid tiers for capacity, local rails for conversion.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Kenya-first is deliberate: M-PESA rails, KRA eTIMS compliance path, English/Swahili market. Personas show we design for the people who touch the product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status builds trust with a jury: the foundation and both payment rails are live and tested; the deep workflows are sequenced next. No vaporware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engineering maturity: monorepo with shared packages, strict typing end-to-end, automated tests and gates, and payment-grade security posture.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roadmap is the README checklist made visible: everything checked is live, everything unchecked is sequenced. Judges can verify by opening the public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argument: local-first product decisions, a connected data model, verifiable engineering, and a founder who ships. Then move to the thank-you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jury, then invite a live demo — the POS flow and the M-PESA checkout both work end-to-end in the sandbox.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ZBOOK/AppData/Local/Temp/kazi-deck/assets/logo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248" y="1691640"/>
            <a:ext cx="7315200" cy="2816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4754880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AI-native operating system for African businesses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5641848" y="5321808"/>
            <a:ext cx="914400" cy="54864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Text 2"/>
          <p:cNvSpPr/>
          <p:nvPr/>
        </p:nvSpPr>
        <p:spPr>
          <a:xfrm>
            <a:off x="1097280" y="5486400"/>
            <a:ext cx="9994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presentation · Mathew Kioko · mathewtech200@gmail.com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97280" y="5833872"/>
            <a:ext cx="99943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github.com/MathewTech254/KaziOs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97280" y="640080"/>
            <a:ext cx="9994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ACODev COMPETITION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5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tools, ten versions of the truth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02920" y="1481328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70632" y="1481328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2770632" y="1481328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38344" y="1481328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38344" y="1481328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06056" y="1481328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306056" y="1481328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573768" y="1481328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9573768" y="1481328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286000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02920" y="2286000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770632" y="2286000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2770632" y="2286000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38344" y="2286000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038344" y="2286000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306056" y="2286000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306056" y="2286000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573768" y="2286000"/>
            <a:ext cx="2084832" cy="603504"/>
          </a:xfrm>
          <a:prstGeom prst="roundRect">
            <a:avLst>
              <a:gd name="adj" fmla="val 12121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9573768" y="2286000"/>
            <a:ext cx="20848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3310128"/>
            <a:ext cx="5486400" cy="1353312"/>
          </a:xfrm>
          <a:prstGeom prst="roundRect">
            <a:avLst>
              <a:gd name="adj" fmla="val 6081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3511296"/>
            <a:ext cx="64008" cy="950976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349300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drifts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77240" y="3877056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sale updates the till, not the shelf.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199632" y="3310128"/>
            <a:ext cx="5486400" cy="1353312"/>
          </a:xfrm>
          <a:prstGeom prst="roundRect">
            <a:avLst>
              <a:gd name="adj" fmla="val 6081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9632" y="3511296"/>
            <a:ext cx="64008" cy="950976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349300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entry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73952" y="3877056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sale gets re-typed into three systems.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846320"/>
            <a:ext cx="5486400" cy="1353312"/>
          </a:xfrm>
          <a:prstGeom prst="roundRect">
            <a:avLst>
              <a:gd name="adj" fmla="val 6081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047488"/>
            <a:ext cx="64008" cy="950976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35" name="Text 33"/>
          <p:cNvSpPr/>
          <p:nvPr/>
        </p:nvSpPr>
        <p:spPr>
          <a:xfrm>
            <a:off x="777240" y="5029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balances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77240" y="5413248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owes what lives in a notebook at the counter.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199632" y="4846320"/>
            <a:ext cx="5486400" cy="1353312"/>
          </a:xfrm>
          <a:prstGeom prst="roundRect">
            <a:avLst>
              <a:gd name="adj" fmla="val 6081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99632" y="5047488"/>
            <a:ext cx="64008" cy="950976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39" name="Text 37"/>
          <p:cNvSpPr/>
          <p:nvPr/>
        </p:nvSpPr>
        <p:spPr>
          <a:xfrm>
            <a:off x="6473952" y="5029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decisions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473952" y="5413248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arrive after the decision was due.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5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EXISTING SOFTWARE FAILS 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a different market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17904"/>
            <a:ext cx="5486400" cy="2121408"/>
          </a:xfrm>
          <a:prstGeom prst="roundRect">
            <a:avLst>
              <a:gd name="adj" fmla="val 3879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92224"/>
            <a:ext cx="73152" cy="1572768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79222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 first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95528" y="226771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M-PESA is how most customers actually pay. Global tools treat it as an afterthought — or ignore it entirely.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99632" y="1517904"/>
            <a:ext cx="5486400" cy="2121408"/>
          </a:xfrm>
          <a:prstGeom prst="roundRect">
            <a:avLst>
              <a:gd name="adj" fmla="val 3879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9632" y="1792224"/>
            <a:ext cx="73152" cy="157276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792224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Multi-branch by default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226771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grow into branches, warehouses and agents. The software must model that shape from day one.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858768"/>
            <a:ext cx="5486400" cy="2121408"/>
          </a:xfrm>
          <a:prstGeom prst="roundRect">
            <a:avLst>
              <a:gd name="adj" fmla="val 3879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4133088"/>
            <a:ext cx="73152" cy="1572768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413308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comes and goes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95528" y="4608576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must keep flowing on unreliable networks — offline tolerance cannot be a future luxury.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99632" y="3858768"/>
            <a:ext cx="5486400" cy="2121408"/>
          </a:xfrm>
          <a:prstGeom prst="roundRect">
            <a:avLst>
              <a:gd name="adj" fmla="val 3879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9632" y="4133088"/>
            <a:ext cx="73152" cy="1572768"/>
          </a:xfrm>
          <a:prstGeom prst="rect">
            <a:avLst/>
          </a:prstGeom>
          <a:solidFill>
            <a:srgbClr val="12A05F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4133088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that fits the market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92240" y="4608576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Foreign-currency enterprise pricing does not scale with an African SME. Plans must grow with the business.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5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— everything connected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325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sale happens, payment, stock, customer history, books and reporting update together — automatically.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 flipV="1">
            <a:off x="2743200" y="2121408"/>
            <a:ext cx="3749040" cy="1353312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743200" y="2907792"/>
            <a:ext cx="3749040" cy="566928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3474720"/>
            <a:ext cx="3749040" cy="219456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0" y="3474720"/>
            <a:ext cx="3749040" cy="1005840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3474720"/>
            <a:ext cx="3749040" cy="1792224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3474720"/>
            <a:ext cx="3749040" cy="2578608"/>
          </a:xfrm>
          <a:prstGeom prst="line">
            <a:avLst/>
          </a:prstGeom>
          <a:noFill/>
          <a:ln w="19050">
            <a:solidFill>
              <a:srgbClr val="2A4A7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017520"/>
            <a:ext cx="1920240" cy="914400"/>
          </a:xfrm>
          <a:prstGeom prst="roundRect">
            <a:avLst>
              <a:gd name="adj" fmla="val 12000"/>
            </a:avLst>
          </a:prstGeom>
          <a:solidFill>
            <a:srgbClr val="F5A314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0175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92240" y="1810512"/>
            <a:ext cx="5138928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93408" y="2039112"/>
            <a:ext cx="164592" cy="164592"/>
          </a:xfrm>
          <a:prstGeom prst="ellipse">
            <a:avLst/>
          </a:prstGeom>
          <a:solidFill>
            <a:srgbClr val="F5A314"/>
          </a:solidFill>
          <a:ln/>
        </p:spPr>
      </p:sp>
      <p:sp>
        <p:nvSpPr>
          <p:cNvPr id="16" name="Text 14"/>
          <p:cNvSpPr/>
          <p:nvPr/>
        </p:nvSpPr>
        <p:spPr>
          <a:xfrm>
            <a:off x="6995160" y="1810512"/>
            <a:ext cx="449884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92240" y="2596896"/>
            <a:ext cx="5138928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3408" y="2825496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995160" y="2596896"/>
            <a:ext cx="449884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492240" y="3383280"/>
            <a:ext cx="5138928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93408" y="3611880"/>
            <a:ext cx="164592" cy="164592"/>
          </a:xfrm>
          <a:prstGeom prst="ellipse">
            <a:avLst/>
          </a:prstGeom>
          <a:solidFill>
            <a:srgbClr val="E8621E"/>
          </a:solidFill>
          <a:ln/>
        </p:spPr>
      </p:sp>
      <p:sp>
        <p:nvSpPr>
          <p:cNvPr id="22" name="Text 20"/>
          <p:cNvSpPr/>
          <p:nvPr/>
        </p:nvSpPr>
        <p:spPr>
          <a:xfrm>
            <a:off x="6995160" y="3383280"/>
            <a:ext cx="449884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492240" y="4169664"/>
            <a:ext cx="5138928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3408" y="4398264"/>
            <a:ext cx="164592" cy="164592"/>
          </a:xfrm>
          <a:prstGeom prst="ellipse">
            <a:avLst/>
          </a:prstGeom>
          <a:solidFill>
            <a:srgbClr val="12A05F"/>
          </a:solidFill>
          <a:ln/>
        </p:spPr>
      </p:sp>
      <p:sp>
        <p:nvSpPr>
          <p:cNvPr id="25" name="Text 23"/>
          <p:cNvSpPr/>
          <p:nvPr/>
        </p:nvSpPr>
        <p:spPr>
          <a:xfrm>
            <a:off x="6995160" y="4169664"/>
            <a:ext cx="449884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492240" y="4956048"/>
            <a:ext cx="5138928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93408" y="5184648"/>
            <a:ext cx="164592" cy="16459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6995160" y="4956048"/>
            <a:ext cx="449884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6492240" y="5742432"/>
            <a:ext cx="5138928" cy="621792"/>
          </a:xfrm>
          <a:prstGeom prst="roundRect">
            <a:avLst>
              <a:gd name="adj" fmla="val 132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3408" y="5971032"/>
            <a:ext cx="164592" cy="164592"/>
          </a:xfrm>
          <a:prstGeom prst="ellipse">
            <a:avLst/>
          </a:prstGeom>
          <a:solidFill>
            <a:srgbClr val="F5A314"/>
          </a:solidFill>
          <a:ln/>
        </p:spPr>
      </p:sp>
      <p:sp>
        <p:nvSpPr>
          <p:cNvPr id="31" name="Text 29"/>
          <p:cNvSpPr/>
          <p:nvPr/>
        </p:nvSpPr>
        <p:spPr>
          <a:xfrm>
            <a:off x="6995160" y="5742432"/>
            <a:ext cx="449884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Insights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22960" y="461772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business transaction should not exist in isolation.”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22960" y="52120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KaziOS design principle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35" name="Text 33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5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business runs on, in one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280160"/>
            <a:ext cx="1115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modules are live today — the deeper workflows are in active build.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5669280" cy="3577590"/>
          </a:xfrm>
          <a:prstGeom prst="roundRect">
            <a:avLst>
              <a:gd name="adj" fmla="val 2300"/>
            </a:avLst>
          </a:prstGeom>
          <a:solidFill>
            <a:srgbClr val="102542"/>
          </a:solidFill>
          <a:ln w="12700">
            <a:solidFill>
              <a:srgbClr val="1E3A63"/>
            </a:solidFill>
            <a:prstDash val="solid"/>
          </a:ln>
        </p:spPr>
      </p:sp>
      <p:pic>
        <p:nvPicPr>
          <p:cNvPr id="7" name="Image 0" descr="C:/Users/ZBOOK/AppData/Local/Temp/kazi-deck/assets/shot-p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45920"/>
            <a:ext cx="5577840" cy="3486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5241798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POS — branch, warehouse and category filters in one screen.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0" y="1645920"/>
            <a:ext cx="2523744" cy="873252"/>
          </a:xfrm>
          <a:prstGeom prst="roundRect">
            <a:avLst>
              <a:gd name="adj" fmla="val 942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65392" y="1792224"/>
            <a:ext cx="384048" cy="50292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11" name="Text 8"/>
          <p:cNvSpPr/>
          <p:nvPr/>
        </p:nvSpPr>
        <p:spPr>
          <a:xfrm>
            <a:off x="6565392" y="188366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of Sale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565392" y="213055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cart, discounts, tax, receipts and cashier workflows.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9107424" y="1645920"/>
            <a:ext cx="2523744" cy="873252"/>
          </a:xfrm>
          <a:prstGeom prst="roundRect">
            <a:avLst>
              <a:gd name="adj" fmla="val 942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272016" y="1792224"/>
            <a:ext cx="384048" cy="50292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5" name="Text 12"/>
          <p:cNvSpPr/>
          <p:nvPr/>
        </p:nvSpPr>
        <p:spPr>
          <a:xfrm>
            <a:off x="9272016" y="188366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&amp; Inventory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272016" y="2130552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SKUs, barcodes, categories, warehouses and stock movements.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400800" y="2660904"/>
            <a:ext cx="2523744" cy="873252"/>
          </a:xfrm>
          <a:prstGeom prst="roundRect">
            <a:avLst>
              <a:gd name="adj" fmla="val 942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65392" y="2807208"/>
            <a:ext cx="384048" cy="50292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19" name="Text 16"/>
          <p:cNvSpPr/>
          <p:nvPr/>
        </p:nvSpPr>
        <p:spPr>
          <a:xfrm>
            <a:off x="6565392" y="289864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565392" y="314553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Profiles, history, outstanding balances and returns.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9107424" y="2660904"/>
            <a:ext cx="2523744" cy="873252"/>
          </a:xfrm>
          <a:prstGeom prst="roundRect">
            <a:avLst>
              <a:gd name="adj" fmla="val 942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272016" y="2807208"/>
            <a:ext cx="384048" cy="50292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23" name="Text 20"/>
          <p:cNvSpPr/>
          <p:nvPr/>
        </p:nvSpPr>
        <p:spPr>
          <a:xfrm>
            <a:off x="9272016" y="2898648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Invoicing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272016" y="3145536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Invoices, line items, partial payments and statuses.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400800" y="3675888"/>
            <a:ext cx="2523744" cy="873252"/>
          </a:xfrm>
          <a:prstGeom prst="roundRect">
            <a:avLst>
              <a:gd name="adj" fmla="val 942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65392" y="3822192"/>
            <a:ext cx="384048" cy="50292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27" name="Text 24"/>
          <p:cNvSpPr/>
          <p:nvPr/>
        </p:nvSpPr>
        <p:spPr>
          <a:xfrm>
            <a:off x="6565392" y="391363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565392" y="4160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→ purchase order → receiving → stock → balance.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9107424" y="3675888"/>
            <a:ext cx="2523744" cy="873252"/>
          </a:xfrm>
          <a:prstGeom prst="roundRect">
            <a:avLst>
              <a:gd name="adj" fmla="val 942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272016" y="3822192"/>
            <a:ext cx="384048" cy="50292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31" name="Text 28"/>
          <p:cNvSpPr/>
          <p:nvPr/>
        </p:nvSpPr>
        <p:spPr>
          <a:xfrm>
            <a:off x="9272016" y="391363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272016" y="41605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(Paystack) and M-PESA rails, refunds and tracking.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6400800" y="4690872"/>
            <a:ext cx="2523744" cy="873252"/>
          </a:xfrm>
          <a:prstGeom prst="roundRect">
            <a:avLst>
              <a:gd name="adj" fmla="val 942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565392" y="4837176"/>
            <a:ext cx="384048" cy="50292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35" name="Text 32"/>
          <p:cNvSpPr/>
          <p:nvPr/>
        </p:nvSpPr>
        <p:spPr>
          <a:xfrm>
            <a:off x="6565392" y="492861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565392" y="5175504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stock, customer and financial reports.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9107424" y="4690872"/>
            <a:ext cx="2523744" cy="873252"/>
          </a:xfrm>
          <a:prstGeom prst="roundRect">
            <a:avLst>
              <a:gd name="adj" fmla="val 942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272016" y="4837176"/>
            <a:ext cx="384048" cy="50292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39" name="Text 36"/>
          <p:cNvSpPr/>
          <p:nvPr/>
        </p:nvSpPr>
        <p:spPr>
          <a:xfrm>
            <a:off x="9272016" y="492861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Insights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272016" y="5175504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 grounded in your own numbers.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5852160"/>
            <a:ext cx="11128248" cy="457200"/>
          </a:xfrm>
          <a:prstGeom prst="roundRect">
            <a:avLst>
              <a:gd name="adj" fmla="val 20000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02920" y="5852160"/>
            <a:ext cx="11128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Multi-branch  ·  Warehouses  ·  Roles &amp; permissions  ·  Audit logging  ·  Notifications  ·  Settings</a:t>
            </a:r>
            <a:endParaRPr lang="en-US" sz="1250" dirty="0"/>
          </a:p>
        </p:txBody>
      </p:sp>
      <p:sp>
        <p:nvSpPr>
          <p:cNvPr id="43" name="Shape 40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5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INTEGRATION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that works the way Africa pays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37360"/>
            <a:ext cx="73152" cy="1371600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700784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— cards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95528" y="2139696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checkout with webhook-verified confirmation and idempotent activation — a payment can never be granted twice.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520440"/>
            <a:ext cx="5394960" cy="2331720"/>
          </a:xfrm>
          <a:prstGeom prst="roundRect">
            <a:avLst>
              <a:gd name="adj" fmla="val 3529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776472"/>
            <a:ext cx="73152" cy="1828800"/>
          </a:xfrm>
          <a:prstGeom prst="rect">
            <a:avLst/>
          </a:prstGeom>
          <a:solidFill>
            <a:srgbClr val="12A05F"/>
          </a:solidFill>
          <a:ln/>
        </p:spPr>
      </p:sp>
      <p:sp>
        <p:nvSpPr>
          <p:cNvPr id="11" name="Text 9"/>
          <p:cNvSpPr/>
          <p:nvPr/>
        </p:nvSpPr>
        <p:spPr>
          <a:xfrm>
            <a:off x="795528" y="3739896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M-PESA — Safaricom Daraja STK Push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95528" y="4178808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approves on their own phone with their PIN. The server then re-queries Safaricom to verify — the callback can only trigger a check, never grant access.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1435608"/>
            <a:ext cx="5550408" cy="2422838"/>
          </a:xfrm>
          <a:prstGeom prst="roundRect">
            <a:avLst>
              <a:gd name="adj" fmla="val 3397"/>
            </a:avLst>
          </a:prstGeom>
          <a:solidFill>
            <a:srgbClr val="102542"/>
          </a:solidFill>
          <a:ln w="12700">
            <a:solidFill>
              <a:srgbClr val="1E3A63"/>
            </a:solidFill>
            <a:prstDash val="solid"/>
          </a:ln>
        </p:spPr>
      </p:sp>
      <p:pic>
        <p:nvPicPr>
          <p:cNvPr id="14" name="Image 0" descr="C:/Users/ZBOOK/AppData/Local/Temp/kazi-deck/assets/shot-billing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481328"/>
            <a:ext cx="5458968" cy="2331398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6172200" y="3949886"/>
            <a:ext cx="5458968" cy="1902274"/>
          </a:xfrm>
          <a:prstGeom prst="roundRect">
            <a:avLst>
              <a:gd name="adj" fmla="val 4326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46520" y="4096190"/>
            <a:ext cx="491032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trustworthy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46520" y="4461950"/>
            <a:ext cx="4910328" cy="12804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checked against the plan price — every time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activation: one payment, one grant, ever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Unsigned webhook can only trigger a verification query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aware: undecided payments poll politely, then retry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02920" y="6016752"/>
            <a:ext cx="11128248" cy="402336"/>
          </a:xfrm>
          <a:prstGeom prst="roundRect">
            <a:avLst>
              <a:gd name="adj" fmla="val 20455"/>
            </a:avLst>
          </a:prstGeom>
          <a:solidFill>
            <a:srgbClr val="102542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6016752"/>
            <a:ext cx="11128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rails share one subscription engine — same plans, same limits, same billing portal.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5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SaaS — paid where Africa pays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17904"/>
            <a:ext cx="3611880" cy="2395728"/>
          </a:xfrm>
          <a:prstGeom prst="roundRect">
            <a:avLst>
              <a:gd name="adj" fmla="val 34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79222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plan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777240" y="2304288"/>
            <a:ext cx="548640" cy="54864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2468880"/>
            <a:ext cx="310896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with core features and sensible limits. The door stays wide open.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79392" y="1371600"/>
            <a:ext cx="3611880" cy="2688336"/>
          </a:xfrm>
          <a:prstGeom prst="roundRect">
            <a:avLst>
              <a:gd name="adj" fmla="val 3061"/>
            </a:avLst>
          </a:prstGeom>
          <a:solidFill>
            <a:srgbClr val="F5A314"/>
          </a:solidFill>
          <a:ln/>
        </p:spPr>
      </p:sp>
      <p:sp>
        <p:nvSpPr>
          <p:cNvPr id="10" name="Text 8"/>
          <p:cNvSpPr/>
          <p:nvPr/>
        </p:nvSpPr>
        <p:spPr>
          <a:xfrm>
            <a:off x="4535424" y="16459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plans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53712" y="2157984"/>
            <a:ext cx="548640" cy="54864"/>
          </a:xfrm>
          <a:prstGeom prst="rect">
            <a:avLst/>
          </a:prstGeom>
          <a:solidFill>
            <a:srgbClr val="081B36"/>
          </a:solidFill>
          <a:ln/>
        </p:spPr>
      </p:sp>
      <p:sp>
        <p:nvSpPr>
          <p:cNvPr id="12" name="Text 10"/>
          <p:cNvSpPr/>
          <p:nvPr/>
        </p:nvSpPr>
        <p:spPr>
          <a:xfrm>
            <a:off x="4535424" y="2322576"/>
            <a:ext cx="3108960" cy="1499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capacity and features. Monthly or annual billing, cancelled any time.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55864" y="1517904"/>
            <a:ext cx="3611880" cy="2395728"/>
          </a:xfrm>
          <a:prstGeom prst="roundRect">
            <a:avLst>
              <a:gd name="adj" fmla="val 3435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11896" y="179222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with you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330184" y="2304288"/>
            <a:ext cx="548640" cy="54864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16" name="Text 14"/>
          <p:cNvSpPr/>
          <p:nvPr/>
        </p:nvSpPr>
        <p:spPr>
          <a:xfrm>
            <a:off x="8311896" y="2468880"/>
            <a:ext cx="310896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as a business adds branches and teams, its tier grows with it.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315968"/>
            <a:ext cx="11128248" cy="1737360"/>
          </a:xfrm>
          <a:prstGeom prst="roundRect">
            <a:avLst>
              <a:gd name="adj" fmla="val 4737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" y="451713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model works here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5528" y="4901184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payment methods (M-PESA) lift conversion where cards are rare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Entitlements are enforced server-side — limits stay honest, clients cannot spoof them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billing rewards commitment and smooths cash flow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5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&amp; USERS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first — built for African markets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1732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KaziOS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6309360" cy="914400"/>
          </a:xfrm>
          <a:prstGeom prst="roundRect">
            <a:avLst>
              <a:gd name="adj" fmla="val 9000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2157984"/>
            <a:ext cx="347472" cy="347472"/>
          </a:xfrm>
          <a:prstGeom prst="ellipse">
            <a:avLst/>
          </a:prstGeom>
          <a:solidFill>
            <a:srgbClr val="F5A314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2002536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280160" y="23317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visibility across every branch, in real time.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6309360" cy="914400"/>
          </a:xfrm>
          <a:prstGeom prst="roundRect">
            <a:avLst>
              <a:gd name="adj" fmla="val 9000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3191256"/>
            <a:ext cx="347472" cy="347472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3035808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280160" y="336499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 checkout: few clicks, receipts, less training.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41064"/>
            <a:ext cx="6309360" cy="914400"/>
          </a:xfrm>
          <a:prstGeom prst="roundRect">
            <a:avLst>
              <a:gd name="adj" fmla="val 9000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4224528"/>
            <a:ext cx="347472" cy="347472"/>
          </a:xfrm>
          <a:prstGeom prst="ellipse">
            <a:avLst/>
          </a:prstGeom>
          <a:solidFill>
            <a:srgbClr val="E8621E"/>
          </a:solidFill>
          <a:ln/>
        </p:spPr>
      </p:sp>
      <p:sp>
        <p:nvSpPr>
          <p:cNvPr id="16" name="Text 14"/>
          <p:cNvSpPr/>
          <p:nvPr/>
        </p:nvSpPr>
        <p:spPr>
          <a:xfrm>
            <a:off x="1280160" y="406908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manager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280160" y="439826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truth — what moved, what is low, what was ordered.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974336"/>
            <a:ext cx="6309360" cy="914400"/>
          </a:xfrm>
          <a:prstGeom prst="roundRect">
            <a:avLst>
              <a:gd name="adj" fmla="val 9000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5257800"/>
            <a:ext cx="347472" cy="347472"/>
          </a:xfrm>
          <a:prstGeom prst="ellipse">
            <a:avLst/>
          </a:prstGeom>
          <a:solidFill>
            <a:srgbClr val="12A05F"/>
          </a:solidFill>
          <a:ln/>
        </p:spPr>
      </p:sp>
      <p:sp>
        <p:nvSpPr>
          <p:cNvPr id="20" name="Text 18"/>
          <p:cNvSpPr/>
          <p:nvPr/>
        </p:nvSpPr>
        <p:spPr>
          <a:xfrm>
            <a:off x="1280160" y="5102352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accountant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280160" y="543153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books: invoices, payments and customer balances.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40880" y="1417320"/>
            <a:ext cx="4590288" cy="4471416"/>
          </a:xfrm>
          <a:prstGeom prst="roundRect">
            <a:avLst>
              <a:gd name="adj" fmla="val 1840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6459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start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0" y="2066544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retailers &amp; wholesalers in Kenya — shops, hardware, groceries, pharmacies, distributors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Multi-branch businesses that outgrew spreadsheets and single-purpose apps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path across Africa as payment rails and tax integrations land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315200" y="39776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15200" y="4379976"/>
            <a:ext cx="4069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payments are becoming the default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authorities are digitising invoicing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demand one source of truth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5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in public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35024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0B1C39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33502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190+ passing tests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54680" y="1335024"/>
            <a:ext cx="2834640" cy="310896"/>
          </a:xfrm>
          <a:prstGeom prst="roundRect">
            <a:avLst>
              <a:gd name="adj" fmla="val 50000"/>
            </a:avLst>
          </a:prstGeom>
          <a:solidFill>
            <a:srgbClr val="0B1C39"/>
          </a:solidFill>
          <a:ln/>
        </p:spPr>
      </p:sp>
      <p:sp>
        <p:nvSpPr>
          <p:cNvPr id="8" name="Text 6"/>
          <p:cNvSpPr/>
          <p:nvPr/>
        </p:nvSpPr>
        <p:spPr>
          <a:xfrm>
            <a:off x="3154680" y="1335024"/>
            <a:ext cx="2834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+ lint gates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72200" y="1335024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0B1C39"/>
          </a:solidFill>
          <a:ln/>
        </p:spPr>
      </p:sp>
      <p:sp>
        <p:nvSpPr>
          <p:cNvPr id="10" name="Text 8"/>
          <p:cNvSpPr/>
          <p:nvPr/>
        </p:nvSpPr>
        <p:spPr>
          <a:xfrm>
            <a:off x="6172200" y="1335024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GitHub repo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006840" y="1335024"/>
            <a:ext cx="2624328" cy="310896"/>
          </a:xfrm>
          <a:prstGeom prst="roundRect">
            <a:avLst>
              <a:gd name="adj" fmla="val 50000"/>
            </a:avLst>
          </a:prstGeom>
          <a:solidFill>
            <a:srgbClr val="0B1C39"/>
          </a:solidFill>
          <a:ln/>
        </p:spPr>
      </p:sp>
      <p:sp>
        <p:nvSpPr>
          <p:cNvPr id="12" name="Text 10"/>
          <p:cNvSpPr/>
          <p:nvPr/>
        </p:nvSpPr>
        <p:spPr>
          <a:xfrm>
            <a:off x="9006840" y="1335024"/>
            <a:ext cx="26243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1828800"/>
            <a:ext cx="3611880" cy="3520440"/>
          </a:xfrm>
          <a:prstGeom prst="roundRect">
            <a:avLst>
              <a:gd name="adj" fmla="val 2338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8952" y="2066544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12A05F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" y="206654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58952" y="2523744"/>
            <a:ext cx="3099816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organizations, roles &amp; audit logging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customers, invoices, payments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warehouses, settings, notifications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foundation and reporting foundation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plans, free tier, feature entitlements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+ M-PESA payment rails, billing portal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architecture, subscriptions, M-PESA walkthrough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1828800"/>
            <a:ext cx="3611880" cy="3520440"/>
          </a:xfrm>
          <a:prstGeom prst="roundRect">
            <a:avLst>
              <a:gd name="adj" fmla="val 2338"/>
            </a:avLst>
          </a:prstGeom>
          <a:solidFill>
            <a:srgbClr val="0B1C39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99432" y="2066544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19" name="Text 17"/>
          <p:cNvSpPr/>
          <p:nvPr/>
        </p:nvSpPr>
        <p:spPr>
          <a:xfrm>
            <a:off x="4599432" y="2066544"/>
            <a:ext cx="1737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ACTIVE BUILD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99432" y="2523744"/>
            <a:ext cx="3099816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cashier workflow &amp; barcode scanning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Returns, refunds, split payments, cashier shifts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ledger, transfers &amp; stocktaking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lifecycle &amp; supplier balances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core (GL, receivables/payables, P&amp;L)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business copilot across every module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POS · KRA eTIMS · WhatsApp &amp; SMS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1783080"/>
            <a:ext cx="3538728" cy="2245995"/>
          </a:xfrm>
          <a:prstGeom prst="roundRect">
            <a:avLst>
              <a:gd name="adj" fmla="val 3664"/>
            </a:avLst>
          </a:prstGeom>
          <a:solidFill>
            <a:srgbClr val="102542"/>
          </a:solidFill>
          <a:ln w="12700">
            <a:solidFill>
              <a:srgbClr val="1E3A63"/>
            </a:solidFill>
            <a:prstDash val="solid"/>
          </a:ln>
        </p:spPr>
      </p:sp>
      <p:pic>
        <p:nvPicPr>
          <p:cNvPr id="22" name="Image 0" descr="C:/Users/ZBOOK/AppData/Local/Temp/kazi-deck/assets/shot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1828800"/>
            <a:ext cx="3447288" cy="2154555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183880" y="4120515"/>
            <a:ext cx="3447288" cy="1228725"/>
          </a:xfrm>
          <a:prstGeom prst="roundRect">
            <a:avLst>
              <a:gd name="adj" fmla="val 6698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03336" y="4266819"/>
            <a:ext cx="30083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today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403336" y="4614291"/>
            <a:ext cx="300837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dashboard — real organisation data: KES 1.17M revenue this month, 151 sales, low-stock alerts and top products.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5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typed, tested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602736" cy="3794760"/>
          </a:xfrm>
          <a:prstGeom prst="roundRect">
            <a:avLst>
              <a:gd name="adj" fmla="val 228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" y="1737360"/>
            <a:ext cx="502920" cy="73152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883664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0664" y="2340864"/>
            <a:ext cx="31272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build + Tailwind CSS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Router &amp; Query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Radix UI · Recharts charts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Testing Library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88536" y="1481328"/>
            <a:ext cx="3602736" cy="3794760"/>
          </a:xfrm>
          <a:prstGeom prst="roundRect">
            <a:avLst>
              <a:gd name="adj" fmla="val 228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1737360"/>
            <a:ext cx="502920" cy="73152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883664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26280" y="2340864"/>
            <a:ext cx="31272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request validation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sessions + argon2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+ Helmet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BullMQ background jobs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74152" y="1481328"/>
            <a:ext cx="3602736" cy="3794760"/>
          </a:xfrm>
          <a:prstGeom prst="roundRect">
            <a:avLst>
              <a:gd name="adj" fmla="val 2284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11896" y="1737360"/>
            <a:ext cx="502920" cy="73152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883664"/>
            <a:ext cx="3127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INFRA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11896" y="2340864"/>
            <a:ext cx="31272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(Neon)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+ migrations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sessions &amp; cache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Monorepo: 6 shared packages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(Render)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5486400"/>
            <a:ext cx="11128248" cy="841248"/>
          </a:xfrm>
          <a:prstGeom prst="roundRect">
            <a:avLst>
              <a:gd name="adj" fmla="val 9783"/>
            </a:avLst>
          </a:prstGeom>
          <a:solidFill>
            <a:srgbClr val="102542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486400"/>
            <a:ext cx="10607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gates: </a:t>
            </a:r>
            <a:r>
              <a:rPr lang="en-US" sz="1300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· lint · 190+ unit tests · integration suite      </a:t>
            </a:r>
            <a:r>
              <a:rPr lang="en-US" sz="13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 </a:t>
            </a:r>
            <a:r>
              <a:rPr lang="en-US" sz="1300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· audit trail · hashed secrets · HTTPS-only callbacks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5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→ Next → Later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474720" cy="4480560"/>
          </a:xfrm>
          <a:prstGeom prst="roundRect">
            <a:avLst>
              <a:gd name="adj" fmla="val 2368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81328"/>
            <a:ext cx="3474720" cy="640080"/>
          </a:xfrm>
          <a:prstGeom prst="roundRect">
            <a:avLst>
              <a:gd name="adj" fmla="val 12857"/>
            </a:avLst>
          </a:prstGeom>
          <a:solidFill>
            <a:srgbClr val="12A05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481328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200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22376" y="2286000"/>
            <a:ext cx="30358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2A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22376" y="2706624"/>
            <a:ext cx="3035808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platform &amp; multi-branch ops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+ M-PESA payment rails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&amp; paid subscription tiers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test suite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995928" y="3291840"/>
            <a:ext cx="338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52544" y="1481328"/>
            <a:ext cx="3474720" cy="4480560"/>
          </a:xfrm>
          <a:prstGeom prst="roundRect">
            <a:avLst>
              <a:gd name="adj" fmla="val 2368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52544" y="1481328"/>
            <a:ext cx="3474720" cy="640080"/>
          </a:xfrm>
          <a:prstGeom prst="roundRect">
            <a:avLst>
              <a:gd name="adj" fmla="val 12857"/>
            </a:avLst>
          </a:prstGeom>
          <a:solidFill>
            <a:srgbClr val="F5A314"/>
          </a:solidFill>
          <a:ln/>
        </p:spPr>
      </p:sp>
      <p:sp>
        <p:nvSpPr>
          <p:cNvPr id="13" name="Text 11"/>
          <p:cNvSpPr/>
          <p:nvPr/>
        </p:nvSpPr>
        <p:spPr>
          <a:xfrm>
            <a:off x="4352544" y="1481328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200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30358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 workflows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0" y="2706624"/>
            <a:ext cx="3035808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cashier workflow &amp; shifts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ledger, transfers, stocktaking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lifecycle &amp; suppliers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core (GL, AR/AP, P&amp;L)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845552" y="3291840"/>
            <a:ext cx="338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8202168" y="1481328"/>
            <a:ext cx="3474720" cy="4480560"/>
          </a:xfrm>
          <a:prstGeom prst="roundRect">
            <a:avLst>
              <a:gd name="adj" fmla="val 2368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02168" y="1481328"/>
            <a:ext cx="3474720" cy="640080"/>
          </a:xfrm>
          <a:prstGeom prst="roundRect">
            <a:avLst>
              <a:gd name="adj" fmla="val 12857"/>
            </a:avLst>
          </a:prstGeom>
          <a:solidFill>
            <a:srgbClr val="0E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8202168" y="1481328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200" dirty="0">
                <a:solidFill>
                  <a:srgbClr val="081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21624" y="2286000"/>
            <a:ext cx="303580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0E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&amp; scale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21624" y="2706624"/>
            <a:ext cx="3035808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business copilot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POS for intermittent networks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 eTIMS compliance integration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WhatsApp/SMS &amp; pan-African expansion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5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KAZIOS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by design — serious under the hood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21208" y="1207008"/>
            <a:ext cx="7772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17904"/>
            <a:ext cx="5486400" cy="1975104"/>
          </a:xfrm>
          <a:prstGeom prst="roundRect">
            <a:avLst>
              <a:gd name="adj" fmla="val 4167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73936"/>
            <a:ext cx="73152" cy="1463040"/>
          </a:xfrm>
          <a:prstGeom prst="rect">
            <a:avLst/>
          </a:prstGeom>
          <a:solidFill>
            <a:srgbClr val="F5A314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1755648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here, not adapted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95528" y="2212848"/>
            <a:ext cx="49377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money, multi-branch reality and Kenyan compliance are the default path — not future tickets on a foreign roadmap.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9632" y="1517904"/>
            <a:ext cx="5486400" cy="1975104"/>
          </a:xfrm>
          <a:prstGeom prst="roundRect">
            <a:avLst>
              <a:gd name="adj" fmla="val 4167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9632" y="1773936"/>
            <a:ext cx="73152" cy="1463040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755648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data model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6492240" y="2212848"/>
            <a:ext cx="49377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sale updates six systems. No reconciliation tax, no drift between the till, the shelf and the books.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694176"/>
            <a:ext cx="5486400" cy="1975104"/>
          </a:xfrm>
          <a:prstGeom prst="roundRect">
            <a:avLst>
              <a:gd name="adj" fmla="val 4167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950208"/>
            <a:ext cx="73152" cy="1463040"/>
          </a:xfrm>
          <a:prstGeom prst="rect">
            <a:avLst/>
          </a:prstGeom>
          <a:solidFill>
            <a:srgbClr val="E8621E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3931920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you can audit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95528" y="4389120"/>
            <a:ext cx="49377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repo, typed codebase, 190+ tests, and written docs for every payment rail — including the M-PESA walkthrough.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99632" y="3694176"/>
            <a:ext cx="5486400" cy="1975104"/>
          </a:xfrm>
          <a:prstGeom prst="roundRect">
            <a:avLst>
              <a:gd name="adj" fmla="val 4167"/>
            </a:avLst>
          </a:prstGeom>
          <a:solidFill>
            <a:srgbClr val="0C1F40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9632" y="3950208"/>
            <a:ext cx="73152" cy="1463040"/>
          </a:xfrm>
          <a:prstGeom prst="rect">
            <a:avLst/>
          </a:prstGeom>
          <a:solidFill>
            <a:srgbClr val="12A05F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931920"/>
            <a:ext cx="4937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on the ground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492240" y="4389120"/>
            <a:ext cx="4937760" cy="1133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Kioko — building in Kenya, shipping in public, iterating toward what African businesses actually need.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5806440"/>
            <a:ext cx="111282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your whole business on one system.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0" y="6519672"/>
            <a:ext cx="12188952" cy="13716"/>
          </a:xfrm>
          <a:prstGeom prst="rect">
            <a:avLst/>
          </a:prstGeom>
          <a:solidFill>
            <a:srgbClr val="1E3A63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6537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· Business Operating System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28832" y="65379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0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ZBOOK/AppData/Local/Temp/kazi-deck/assets/icon-t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920240"/>
            <a:ext cx="2660904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46320" y="2148840"/>
            <a:ext cx="6583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5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4" name="Shape 1"/>
          <p:cNvSpPr/>
          <p:nvPr/>
        </p:nvSpPr>
        <p:spPr>
          <a:xfrm>
            <a:off x="4892040" y="3108960"/>
            <a:ext cx="1005840" cy="64008"/>
          </a:xfrm>
          <a:prstGeom prst="roundRect">
            <a:avLst>
              <a:gd name="adj" fmla="val 50000"/>
            </a:avLst>
          </a:prstGeom>
          <a:solidFill>
            <a:srgbClr val="F5A314"/>
          </a:solidFill>
          <a:ln/>
        </p:spPr>
      </p:sp>
      <p:sp>
        <p:nvSpPr>
          <p:cNvPr id="5" name="Text 2"/>
          <p:cNvSpPr/>
          <p:nvPr/>
        </p:nvSpPr>
        <p:spPr>
          <a:xfrm>
            <a:off x="4846320" y="3310128"/>
            <a:ext cx="6583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7D2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 — the AI-native operating system for African businesses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846320" y="4114800"/>
            <a:ext cx="6583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mathewtech200@gmail.com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 smtClean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github.com/MathewTech254/</a:t>
            </a:r>
            <a:r>
              <a:rPr lang="en-US" sz="1450" b="1" dirty="0" err="1" smtClean="0">
                <a:solidFill>
                  <a:srgbClr val="F5A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KaziOs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1699</Words>
  <Application>Microsoft Office PowerPoint</Application>
  <PresentationFormat>Widescreen</PresentationFormat>
  <Paragraphs>240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KaziOS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KaziOS — Competition Presentation</dc:title>
  <dc:subject>The AI-native operating system for African businesses</dc:subject>
  <dc:creator>Mathew Kioko</dc:creator>
  <cp:lastModifiedBy>ZBOOK</cp:lastModifiedBy>
  <cp:revision>3</cp:revision>
  <dcterms:created xsi:type="dcterms:W3CDTF">2026-10-10T11:01:50Z</dcterms:created>
  <dcterms:modified xsi:type="dcterms:W3CDTF">2026-10-10T16:51:48Z</dcterms:modified>
</cp:coreProperties>
</file>